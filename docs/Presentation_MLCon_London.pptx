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3"/>
  </p:notesMasterIdLst>
  <p:sldIdLst>
    <p:sldId id="530" r:id="rId5"/>
    <p:sldId id="547" r:id="rId6"/>
    <p:sldId id="533" r:id="rId7"/>
    <p:sldId id="548" r:id="rId8"/>
    <p:sldId id="562" r:id="rId9"/>
    <p:sldId id="534" r:id="rId10"/>
    <p:sldId id="549" r:id="rId11"/>
    <p:sldId id="555" r:id="rId12"/>
    <p:sldId id="550" r:id="rId13"/>
    <p:sldId id="553" r:id="rId14"/>
    <p:sldId id="551" r:id="rId15"/>
    <p:sldId id="554" r:id="rId16"/>
    <p:sldId id="556" r:id="rId17"/>
    <p:sldId id="557" r:id="rId18"/>
    <p:sldId id="559" r:id="rId19"/>
    <p:sldId id="558" r:id="rId20"/>
    <p:sldId id="560" r:id="rId21"/>
    <p:sldId id="544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822EE"/>
    <a:srgbClr val="F01688"/>
    <a:srgbClr val="2F21F3"/>
    <a:srgbClr val="FEB52B"/>
    <a:srgbClr val="F01689"/>
    <a:srgbClr val="6F22E3"/>
    <a:srgbClr val="E218A3"/>
    <a:srgbClr val="BA20DB"/>
    <a:srgbClr val="6A23F1"/>
    <a:srgbClr val="2F22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17" autoAdjust="0"/>
    <p:restoredTop sz="65331" autoAdjust="0"/>
  </p:normalViewPr>
  <p:slideViewPr>
    <p:cSldViewPr snapToGrid="0">
      <p:cViewPr varScale="1">
        <p:scale>
          <a:sx n="54" d="100"/>
          <a:sy n="54" d="100"/>
        </p:scale>
        <p:origin x="1467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00BCFC-AFFD-334C-A183-6116BAFDF92B}" type="datetimeFigureOut">
              <a:rPr lang="en-US" smtClean="0"/>
              <a:t>5/12/2026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C058E0-0852-DB43-83D6-BD76659FF1D8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306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everyone.</a:t>
            </a:r>
            <a:br>
              <a:rPr lang="en-US" dirty="0"/>
            </a:br>
            <a:r>
              <a:rPr lang="en-US" dirty="0"/>
              <a:t>Today I’m going to talk about running </a:t>
            </a:r>
            <a:r>
              <a:rPr lang="en-US" b="1" dirty="0"/>
              <a:t>Open WebUI or </a:t>
            </a:r>
            <a:r>
              <a:rPr lang="en-US" b="1" dirty="0" err="1"/>
              <a:t>LibreChat</a:t>
            </a:r>
            <a:r>
              <a:rPr lang="en-US" b="1" dirty="0"/>
              <a:t> with </a:t>
            </a:r>
            <a:r>
              <a:rPr lang="en-US" b="1" dirty="0" err="1"/>
              <a:t>LiteLLM</a:t>
            </a:r>
            <a:r>
              <a:rPr lang="en-US" b="1" dirty="0"/>
              <a:t> Proxy in Azure</a:t>
            </a:r>
            <a:r>
              <a:rPr lang="en-US" dirty="0"/>
              <a:t>.</a:t>
            </a:r>
          </a:p>
          <a:p>
            <a:r>
              <a:rPr lang="en-US" dirty="0"/>
              <a:t>The main question is not only: </a:t>
            </a:r>
            <a:r>
              <a:rPr lang="en-US" i="1" dirty="0"/>
              <a:t>How do we run a chat UI?</a:t>
            </a:r>
            <a:br>
              <a:rPr lang="en-US" dirty="0"/>
            </a:br>
            <a:r>
              <a:rPr lang="en-US" dirty="0"/>
              <a:t>The bigger question is: </a:t>
            </a:r>
            <a:r>
              <a:rPr lang="en-US" i="1" dirty="0"/>
              <a:t>How do we run AI tools in a controlled and maintainable way?</a:t>
            </a:r>
            <a:endParaRPr lang="en-US" dirty="0"/>
          </a:p>
          <a:p>
            <a:r>
              <a:rPr lang="en-US" dirty="0"/>
              <a:t>In this talk, I’ll focus on identity, central model access, budgets, governance, and deployment in Azure.</a:t>
            </a:r>
          </a:p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C058E0-0852-DB43-83D6-BD76659FF1D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46162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First, a short introduction about me.</a:t>
            </a:r>
            <a:br>
              <a:rPr lang="en-US" dirty="0"/>
            </a:br>
            <a:r>
              <a:rPr lang="en-US" dirty="0"/>
              <a:t>My name is </a:t>
            </a:r>
            <a:r>
              <a:rPr lang="en-US" b="1" dirty="0"/>
              <a:t>Melanie Bauer</a:t>
            </a:r>
            <a:r>
              <a:rPr lang="en-US" dirty="0"/>
              <a:t>.</a:t>
            </a:r>
          </a:p>
          <a:p>
            <a:r>
              <a:rPr lang="en-US" dirty="0"/>
              <a:t>I’m a student at </a:t>
            </a:r>
            <a:r>
              <a:rPr lang="en-US" b="1" dirty="0"/>
              <a:t>HTL </a:t>
            </a:r>
            <a:r>
              <a:rPr lang="en-US" b="1" dirty="0" err="1"/>
              <a:t>Leonding</a:t>
            </a:r>
            <a:r>
              <a:rPr lang="en-US" dirty="0"/>
              <a:t> in Upper Austria, and I work as a </a:t>
            </a:r>
            <a:r>
              <a:rPr lang="en-US" b="1" dirty="0"/>
              <a:t>Technical Assistant at software architects</a:t>
            </a:r>
            <a:r>
              <a:rPr lang="en-US" dirty="0"/>
              <a:t>.</a:t>
            </a:r>
          </a:p>
          <a:p>
            <a:r>
              <a:rPr lang="en-US" dirty="0"/>
              <a:t>This topic is interesting to me because it combines several areas: cloud infrastructure, AI tools, identity management, and practical deployment.</a:t>
            </a:r>
          </a:p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C058E0-0852-DB43-83D6-BD76659FF1D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78924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explain why this topic matters, let’s look at a real-life example.</a:t>
            </a:r>
          </a:p>
          <a:p>
            <a:r>
              <a:rPr lang="en-US" dirty="0"/>
              <a:t>Imagine a school with around </a:t>
            </a:r>
            <a:r>
              <a:rPr lang="en-US" b="1" dirty="0"/>
              <a:t>1,300 students</a:t>
            </a:r>
            <a:r>
              <a:rPr lang="en-US" dirty="0"/>
              <a:t>, more than </a:t>
            </a:r>
            <a:r>
              <a:rPr lang="en-US" b="1" dirty="0"/>
              <a:t>100 teachers</a:t>
            </a:r>
            <a:r>
              <a:rPr lang="en-US" dirty="0"/>
              <a:t>, and class-specific tutors.</a:t>
            </a:r>
          </a:p>
          <a:p>
            <a:r>
              <a:rPr lang="en-US" dirty="0"/>
              <a:t>The school already uses </a:t>
            </a:r>
            <a:r>
              <a:rPr lang="en-US" b="1" dirty="0"/>
              <a:t>Microsoft Entra ID</a:t>
            </a:r>
            <a:r>
              <a:rPr lang="en-US" dirty="0"/>
              <a:t> for login.</a:t>
            </a:r>
            <a:br>
              <a:rPr lang="en-US" dirty="0"/>
            </a:br>
            <a:r>
              <a:rPr lang="en-US" dirty="0"/>
              <a:t>So the users already have a central identity system.</a:t>
            </a:r>
          </a:p>
          <a:p>
            <a:r>
              <a:rPr lang="en-US" dirty="0"/>
              <a:t>Now the question is: how can we provide AI tools to all these users in a controlled way?</a:t>
            </a:r>
          </a:p>
          <a:p>
            <a:r>
              <a:rPr lang="en-US" dirty="0"/>
              <a:t>At this scale, it is not enough to give everyone separate tools or API keys.</a:t>
            </a:r>
            <a:br>
              <a:rPr lang="en-US" dirty="0"/>
            </a:br>
            <a:r>
              <a:rPr lang="en-US" dirty="0"/>
              <a:t>We need a central model gateway, proper login, and a setup that can be managed over time.</a:t>
            </a:r>
          </a:p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C058E0-0852-DB43-83D6-BD76659FF1D8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69485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several things we want to avoid.</a:t>
            </a:r>
          </a:p>
          <a:p>
            <a:r>
              <a:rPr lang="en-US" dirty="0"/>
              <a:t>First, </a:t>
            </a:r>
            <a:r>
              <a:rPr lang="en-US" b="1" dirty="0"/>
              <a:t>provider lock-in</a:t>
            </a:r>
            <a:r>
              <a:rPr lang="en-US" dirty="0"/>
              <a:t>. We do not want every tool to depend directly on one specific AI provider.</a:t>
            </a:r>
          </a:p>
          <a:p>
            <a:r>
              <a:rPr lang="en-US" dirty="0"/>
              <a:t>Second, </a:t>
            </a:r>
            <a:r>
              <a:rPr lang="en-US" b="1" dirty="0"/>
              <a:t>AI tool sprawl</a:t>
            </a:r>
            <a:r>
              <a:rPr lang="en-US" dirty="0"/>
              <a:t>. Without a central approach, different users or departments may start using different tools independently.</a:t>
            </a:r>
          </a:p>
          <a:p>
            <a:r>
              <a:rPr lang="en-US" dirty="0"/>
              <a:t>Third, </a:t>
            </a:r>
            <a:r>
              <a:rPr lang="en-US" b="1" dirty="0"/>
              <a:t>API keys everywhere</a:t>
            </a:r>
            <a:r>
              <a:rPr lang="en-US" dirty="0"/>
              <a:t>. This is risky and difficult to manage.</a:t>
            </a:r>
          </a:p>
          <a:p>
            <a:r>
              <a:rPr lang="en-US" dirty="0"/>
              <a:t>We also want to avoid having no shared budget model.</a:t>
            </a:r>
            <a:br>
              <a:rPr lang="en-US" dirty="0"/>
            </a:br>
            <a:r>
              <a:rPr lang="en-US" dirty="0"/>
              <a:t>If every tool connects directly to a provider, it becomes hard to understand and control costs.</a:t>
            </a:r>
          </a:p>
          <a:p>
            <a:r>
              <a:rPr lang="en-US" dirty="0"/>
              <a:t>Another important point is </a:t>
            </a:r>
            <a:r>
              <a:rPr lang="en-US" b="1" dirty="0"/>
              <a:t>user attribution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We need to know which user or group caused which usage.</a:t>
            </a:r>
          </a:p>
          <a:p>
            <a:r>
              <a:rPr lang="en-US" dirty="0"/>
              <a:t>So the goal is to move from an uncontrolled AI landscape to a governed platform.</a:t>
            </a:r>
          </a:p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C058E0-0852-DB43-83D6-BD76659FF1D8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96533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this demo, there were several quality criteria.</a:t>
            </a:r>
          </a:p>
          <a:p>
            <a:r>
              <a:rPr lang="en-US" dirty="0"/>
              <a:t>The infrastructure should be defined as code.</a:t>
            </a:r>
            <a:br>
              <a:rPr lang="en-US" dirty="0"/>
            </a:br>
            <a:r>
              <a:rPr lang="en-US" dirty="0"/>
              <a:t>In this case, I used </a:t>
            </a:r>
            <a:r>
              <a:rPr lang="en-US" b="1" dirty="0"/>
              <a:t>Bicep</a:t>
            </a:r>
            <a:r>
              <a:rPr lang="en-US" dirty="0"/>
              <a:t>.</a:t>
            </a:r>
          </a:p>
          <a:p>
            <a:r>
              <a:rPr lang="en-US" dirty="0"/>
              <a:t>The setup should also align with GDPR requirements as much as possible by using models deployed on </a:t>
            </a:r>
            <a:r>
              <a:rPr lang="en-US" b="1" dirty="0"/>
              <a:t>Azure</a:t>
            </a:r>
            <a:r>
              <a:rPr lang="en-US" dirty="0"/>
              <a:t>.</a:t>
            </a:r>
          </a:p>
          <a:p>
            <a:r>
              <a:rPr lang="en-US" dirty="0"/>
              <a:t>Another important point is automated deployment.</a:t>
            </a:r>
            <a:br>
              <a:rPr lang="en-US" dirty="0"/>
            </a:br>
            <a:r>
              <a:rPr lang="en-US" dirty="0"/>
              <a:t>For that, the demo uses </a:t>
            </a:r>
            <a:r>
              <a:rPr lang="en-US" b="1" dirty="0"/>
              <a:t>GitHub Actions</a:t>
            </a:r>
            <a:r>
              <a:rPr lang="en-US" dirty="0"/>
              <a:t> as the CI/CD pipeline.</a:t>
            </a:r>
          </a:p>
          <a:p>
            <a:r>
              <a:rPr lang="en-US" dirty="0"/>
              <a:t>Managed identities are also important.</a:t>
            </a:r>
            <a:br>
              <a:rPr lang="en-US" dirty="0"/>
            </a:br>
            <a:r>
              <a:rPr lang="en-US" dirty="0"/>
              <a:t>In Azure, they help us avoid storing secrets everywhere.</a:t>
            </a:r>
          </a:p>
          <a:p>
            <a:r>
              <a:rPr lang="en-US" dirty="0"/>
              <a:t>One detail here is the </a:t>
            </a:r>
            <a:r>
              <a:rPr lang="en-US" b="1" dirty="0"/>
              <a:t>two-step deployment</a:t>
            </a:r>
            <a:r>
              <a:rPr lang="en-US" dirty="0"/>
              <a:t> for the user-assigned managed identity.</a:t>
            </a:r>
            <a:br>
              <a:rPr lang="en-US" dirty="0"/>
            </a:br>
            <a:r>
              <a:rPr lang="en-US" dirty="0"/>
              <a:t>This is needed because some resources and permissions depend on the identity already existing.</a:t>
            </a:r>
          </a:p>
          <a:p>
            <a:r>
              <a:rPr lang="en-US" dirty="0"/>
              <a:t>Finally, GitHub authenticates to Azure using </a:t>
            </a:r>
            <a:r>
              <a:rPr lang="en-US" b="1" dirty="0"/>
              <a:t>federated authentication</a:t>
            </a:r>
            <a:r>
              <a:rPr lang="en-US" dirty="0"/>
              <a:t>, so we do not need long-lived Azure secrets in GitHub.</a:t>
            </a:r>
          </a:p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C058E0-0852-DB43-83D6-BD76659FF1D8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56688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let’s introduce the main tools.</a:t>
            </a:r>
          </a:p>
          <a:p>
            <a:r>
              <a:rPr lang="en-US" dirty="0"/>
              <a:t>The three tools I’ll focus on are </a:t>
            </a:r>
            <a:r>
              <a:rPr lang="en-US" b="1" dirty="0" err="1"/>
              <a:t>LiteLLM</a:t>
            </a:r>
            <a:r>
              <a:rPr lang="en-US" dirty="0"/>
              <a:t>, </a:t>
            </a:r>
            <a:r>
              <a:rPr lang="en-US" b="1" dirty="0"/>
              <a:t>Open WebUI</a:t>
            </a:r>
            <a:r>
              <a:rPr lang="en-US" dirty="0"/>
              <a:t>, and </a:t>
            </a:r>
            <a:r>
              <a:rPr lang="en-US" b="1" dirty="0" err="1"/>
              <a:t>LibreChat</a:t>
            </a:r>
            <a:r>
              <a:rPr lang="en-US" dirty="0"/>
              <a:t>.</a:t>
            </a:r>
          </a:p>
          <a:p>
            <a:r>
              <a:rPr lang="en-US" dirty="0" err="1"/>
              <a:t>LiteLLM</a:t>
            </a:r>
            <a:r>
              <a:rPr lang="en-US" dirty="0"/>
              <a:t> is the central gateway between applications and model providers.</a:t>
            </a:r>
          </a:p>
          <a:p>
            <a:r>
              <a:rPr lang="en-US" dirty="0"/>
              <a:t>Open WebUI and </a:t>
            </a:r>
            <a:r>
              <a:rPr lang="en-US" dirty="0" err="1"/>
              <a:t>LibreChat</a:t>
            </a:r>
            <a:r>
              <a:rPr lang="en-US" dirty="0"/>
              <a:t> are the user-facing applications.</a:t>
            </a:r>
            <a:br>
              <a:rPr lang="en-US" dirty="0"/>
            </a:br>
            <a:r>
              <a:rPr lang="en-US" dirty="0"/>
              <a:t>They are both chat interfaces, but they have different strengths.</a:t>
            </a:r>
          </a:p>
          <a:p>
            <a:r>
              <a:rPr lang="en-US" dirty="0"/>
              <a:t>Open WebUI is more of an AI workbench with strong admin features.</a:t>
            </a:r>
            <a:br>
              <a:rPr lang="en-US" dirty="0"/>
            </a:br>
            <a:r>
              <a:rPr lang="en-US" dirty="0" err="1"/>
              <a:t>LibreChat</a:t>
            </a:r>
            <a:r>
              <a:rPr lang="en-US" dirty="0"/>
              <a:t> is closer to a ChatGPT-like user experience.</a:t>
            </a:r>
          </a:p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C058E0-0852-DB43-83D6-BD76659FF1D8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21485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Let’s start with </a:t>
            </a:r>
            <a:r>
              <a:rPr lang="en-US" b="1" dirty="0" err="1"/>
              <a:t>LiteLLM</a:t>
            </a:r>
            <a:r>
              <a:rPr lang="en-US" dirty="0"/>
              <a:t>.</a:t>
            </a:r>
          </a:p>
          <a:p>
            <a:r>
              <a:rPr lang="en-US" dirty="0" err="1"/>
              <a:t>LiteLLM</a:t>
            </a:r>
            <a:r>
              <a:rPr lang="en-US" dirty="0"/>
              <a:t> acts as an </a:t>
            </a:r>
            <a:r>
              <a:rPr lang="en-US" b="1" dirty="0"/>
              <a:t>AI gateway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It provides an OpenAI-compatible API and can route requests to many different providers.</a:t>
            </a:r>
          </a:p>
          <a:p>
            <a:r>
              <a:rPr lang="en-US" dirty="0"/>
              <a:t>This means applications do not need to connect directly to Azure OpenAI or another provider.</a:t>
            </a:r>
            <a:br>
              <a:rPr lang="en-US" dirty="0"/>
            </a:br>
            <a:r>
              <a:rPr lang="en-US" dirty="0"/>
              <a:t>Instead, they connect to </a:t>
            </a:r>
            <a:r>
              <a:rPr lang="en-US" dirty="0" err="1"/>
              <a:t>LiteLLM</a:t>
            </a:r>
            <a:r>
              <a:rPr lang="en-US" dirty="0"/>
              <a:t>.</a:t>
            </a:r>
          </a:p>
          <a:p>
            <a:r>
              <a:rPr lang="en-US" dirty="0" err="1"/>
              <a:t>LiteLLM</a:t>
            </a:r>
            <a:r>
              <a:rPr lang="en-US" dirty="0"/>
              <a:t> can also hide the real provider keys from the applications.</a:t>
            </a:r>
            <a:br>
              <a:rPr lang="en-US" dirty="0"/>
            </a:br>
            <a:r>
              <a:rPr lang="en-US" dirty="0"/>
              <a:t>That is important because we do not want API keys spread across different tools.</a:t>
            </a:r>
          </a:p>
          <a:p>
            <a:r>
              <a:rPr lang="en-US" dirty="0"/>
              <a:t>It also supports virtual keys, teams, spend tracking, budgets, and rate limits.</a:t>
            </a:r>
          </a:p>
          <a:p>
            <a:r>
              <a:rPr lang="en-US" dirty="0"/>
              <a:t>So in this architecture, </a:t>
            </a:r>
            <a:r>
              <a:rPr lang="en-US" dirty="0" err="1"/>
              <a:t>LiteLLM</a:t>
            </a:r>
            <a:r>
              <a:rPr lang="en-US" dirty="0"/>
              <a:t> is the central place for model access and cost control.</a:t>
            </a:r>
          </a:p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C058E0-0852-DB43-83D6-BD76659FF1D8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72092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LiteLLM</a:t>
            </a:r>
            <a:r>
              <a:rPr lang="en-US" dirty="0"/>
              <a:t> has several advantages.</a:t>
            </a:r>
          </a:p>
          <a:p>
            <a:r>
              <a:rPr lang="en-US" dirty="0"/>
              <a:t>The biggest one is that it gives us a </a:t>
            </a:r>
            <a:r>
              <a:rPr lang="en-US" b="1" dirty="0"/>
              <a:t>central model gateway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All applications can go through one controlled access point.</a:t>
            </a:r>
          </a:p>
          <a:p>
            <a:r>
              <a:rPr lang="en-US" dirty="0"/>
              <a:t>It also provides provider abstraction.</a:t>
            </a:r>
            <a:br>
              <a:rPr lang="en-US" dirty="0"/>
            </a:br>
            <a:r>
              <a:rPr lang="en-US" dirty="0"/>
              <a:t>That means the applications are less tightly coupled to a specific model provider.</a:t>
            </a:r>
          </a:p>
          <a:p>
            <a:r>
              <a:rPr lang="en-US" dirty="0"/>
              <a:t>Virtual keys, spend tracking, budgets, and rate limits are also very useful for larger environments.</a:t>
            </a:r>
          </a:p>
          <a:p>
            <a:r>
              <a:rPr lang="en-US" dirty="0"/>
              <a:t>But there are also things to watch out for.</a:t>
            </a:r>
          </a:p>
          <a:p>
            <a:r>
              <a:rPr lang="en-US" dirty="0"/>
              <a:t>Because </a:t>
            </a:r>
            <a:r>
              <a:rPr lang="en-US" dirty="0" err="1"/>
              <a:t>LiteLLM</a:t>
            </a:r>
            <a:r>
              <a:rPr lang="en-US" dirty="0"/>
              <a:t> is central, it becomes part of the critical path.</a:t>
            </a:r>
            <a:br>
              <a:rPr lang="en-US" dirty="0"/>
            </a:br>
            <a:r>
              <a:rPr lang="en-US" dirty="0"/>
              <a:t>If </a:t>
            </a:r>
            <a:r>
              <a:rPr lang="en-US" dirty="0" err="1"/>
              <a:t>LiteLLM</a:t>
            </a:r>
            <a:r>
              <a:rPr lang="en-US" dirty="0"/>
              <a:t> has a problem, model access may be affected.</a:t>
            </a:r>
          </a:p>
          <a:p>
            <a:r>
              <a:rPr lang="en-US" dirty="0"/>
              <a:t>Identity forwarding also has to be designed carefully.</a:t>
            </a:r>
            <a:br>
              <a:rPr lang="en-US" dirty="0"/>
            </a:br>
            <a:r>
              <a:rPr lang="en-US" dirty="0"/>
              <a:t>Otherwise, </a:t>
            </a:r>
            <a:r>
              <a:rPr lang="en-US" dirty="0" err="1"/>
              <a:t>LiteLLM</a:t>
            </a:r>
            <a:r>
              <a:rPr lang="en-US" dirty="0"/>
              <a:t> may not know which real user made a request.</a:t>
            </a:r>
          </a:p>
          <a:p>
            <a:r>
              <a:rPr lang="en-US" dirty="0" err="1"/>
              <a:t>LiteLLM</a:t>
            </a:r>
            <a:r>
              <a:rPr lang="en-US" dirty="0"/>
              <a:t> also needs Postgres, and budget behavior should be tested properly before relying on it.</a:t>
            </a:r>
          </a:p>
          <a:p>
            <a:r>
              <a:rPr lang="en-US" dirty="0"/>
              <a:t>And of course, it is another service that must be secured, updated, and monitored.</a:t>
            </a:r>
          </a:p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C058E0-0852-DB43-83D6-BD76659FF1D8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24098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 is </a:t>
            </a:r>
            <a:r>
              <a:rPr lang="en-US" b="1" dirty="0"/>
              <a:t>Open WebUI</a:t>
            </a:r>
            <a:r>
              <a:rPr lang="en-US" dirty="0"/>
              <a:t>.</a:t>
            </a:r>
          </a:p>
          <a:p>
            <a:r>
              <a:rPr lang="en-US" dirty="0"/>
              <a:t>Open WebUI can be described as an </a:t>
            </a:r>
            <a:r>
              <a:rPr lang="en-US" b="1" dirty="0"/>
              <a:t>AI workbench</a:t>
            </a:r>
            <a:r>
              <a:rPr lang="en-US" dirty="0"/>
              <a:t>.</a:t>
            </a:r>
          </a:p>
          <a:p>
            <a:r>
              <a:rPr lang="en-US" dirty="0"/>
              <a:t>It provides a chat interface, but also many features around administration and configuration.</a:t>
            </a:r>
          </a:p>
          <a:p>
            <a:r>
              <a:rPr lang="en-US" dirty="0"/>
              <a:t>It supports models, agents, knowledge and RAG, tools, functions, MCP, and </a:t>
            </a:r>
            <a:r>
              <a:rPr lang="en-US" dirty="0" err="1"/>
              <a:t>OpenAPI</a:t>
            </a:r>
            <a:r>
              <a:rPr lang="en-US" dirty="0"/>
              <a:t> integrations.</a:t>
            </a:r>
          </a:p>
          <a:p>
            <a:r>
              <a:rPr lang="en-US" dirty="0"/>
              <a:t>It also includes users, groups, RBAC, and a strong admin UI.</a:t>
            </a:r>
          </a:p>
          <a:p>
            <a:r>
              <a:rPr lang="en-US" dirty="0"/>
              <a:t>This makes it especially useful when admins want to configure many things directly in the interface.</a:t>
            </a:r>
          </a:p>
          <a:p>
            <a:r>
              <a:rPr lang="en-US" dirty="0"/>
              <a:t>So Open WebUI is not just a chat frontend.</a:t>
            </a:r>
            <a:br>
              <a:rPr lang="en-US" dirty="0"/>
            </a:br>
            <a:r>
              <a:rPr lang="en-US" dirty="0"/>
              <a:t>It is more like a complete workbench for managing and using AI features.</a:t>
            </a:r>
          </a:p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C058E0-0852-DB43-83D6-BD76659FF1D8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70929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biggest advantage of Open WebUI is the integrated admin UI.</a:t>
            </a:r>
          </a:p>
          <a:p>
            <a:r>
              <a:rPr lang="en-US" dirty="0"/>
              <a:t>Many things can be configured directly in the application.</a:t>
            </a:r>
            <a:br>
              <a:rPr lang="en-US" dirty="0"/>
            </a:br>
            <a:r>
              <a:rPr lang="en-US" dirty="0"/>
              <a:t>For example, models, knowledge, tools, functions, users, groups, and permissions.</a:t>
            </a:r>
          </a:p>
          <a:p>
            <a:r>
              <a:rPr lang="en-US" dirty="0"/>
              <a:t>Model presets can also be used like lightweight agents.</a:t>
            </a:r>
            <a:br>
              <a:rPr lang="en-US" dirty="0"/>
            </a:br>
            <a:r>
              <a:rPr lang="en-US" dirty="0"/>
              <a:t>This is useful when you want to provide predefined configurations for different use cases.</a:t>
            </a:r>
          </a:p>
          <a:p>
            <a:r>
              <a:rPr lang="en-US" dirty="0"/>
              <a:t>Open WebUI also supports SSO and OIDC, which is important for integration with Entra ID.</a:t>
            </a:r>
          </a:p>
          <a:p>
            <a:r>
              <a:rPr lang="en-US" dirty="0"/>
              <a:t>But there are some watch-outs.</a:t>
            </a:r>
          </a:p>
          <a:p>
            <a:r>
              <a:rPr lang="en-US" dirty="0"/>
              <a:t>Persistent configuration can sometimes surprise CI/CD.</a:t>
            </a:r>
            <a:br>
              <a:rPr lang="en-US" dirty="0"/>
            </a:br>
            <a:r>
              <a:rPr lang="en-US" dirty="0"/>
              <a:t>If settings are changed manually in the UI, they may not match what is defined in deployment files.</a:t>
            </a:r>
          </a:p>
          <a:p>
            <a:r>
              <a:rPr lang="en-US" dirty="0"/>
              <a:t>Another point is MCP support.</a:t>
            </a:r>
            <a:br>
              <a:rPr lang="en-US" dirty="0"/>
            </a:br>
            <a:r>
              <a:rPr lang="en-US" dirty="0"/>
              <a:t>Native MCP support is currently focused on </a:t>
            </a:r>
            <a:r>
              <a:rPr lang="en-US" dirty="0" err="1"/>
              <a:t>Streamable</a:t>
            </a:r>
            <a:r>
              <a:rPr lang="en-US" dirty="0"/>
              <a:t> HTTP.</a:t>
            </a:r>
          </a:p>
          <a:p>
            <a:r>
              <a:rPr lang="en-US" dirty="0"/>
              <a:t>The admin role is also very powerful, so admin access must be handled carefully.</a:t>
            </a:r>
          </a:p>
          <a:p>
            <a:r>
              <a:rPr lang="en-US" dirty="0"/>
              <a:t>And even though Open WebUI has many features, </a:t>
            </a:r>
            <a:r>
              <a:rPr lang="en-US" dirty="0" err="1"/>
              <a:t>LiteLLM</a:t>
            </a:r>
            <a:r>
              <a:rPr lang="en-US" dirty="0"/>
              <a:t> is still useful for central budgets and model governance.</a:t>
            </a:r>
          </a:p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C058E0-0852-DB43-83D6-BD76659FF1D8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15964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let’s look at </a:t>
            </a:r>
            <a:r>
              <a:rPr lang="en-US" b="1" dirty="0" err="1"/>
              <a:t>LibreChat</a:t>
            </a:r>
            <a:r>
              <a:rPr lang="en-US" dirty="0"/>
              <a:t>.</a:t>
            </a:r>
          </a:p>
          <a:p>
            <a:r>
              <a:rPr lang="en-US" dirty="0" err="1"/>
              <a:t>LibreChat</a:t>
            </a:r>
            <a:r>
              <a:rPr lang="en-US" dirty="0"/>
              <a:t> is more of a </a:t>
            </a:r>
            <a:r>
              <a:rPr lang="en-US" b="1" dirty="0"/>
              <a:t>ChatGPT-like product</a:t>
            </a:r>
            <a:r>
              <a:rPr lang="en-US" dirty="0"/>
              <a:t>.</a:t>
            </a:r>
          </a:p>
          <a:p>
            <a:r>
              <a:rPr lang="en-US" dirty="0"/>
              <a:t>It provides a familiar workflow for users who already know tools like ChatGPT.</a:t>
            </a:r>
          </a:p>
          <a:p>
            <a:r>
              <a:rPr lang="en-US" dirty="0"/>
              <a:t>It supports agents, tools, MCP integration, artifacts, and a code interpreter.</a:t>
            </a:r>
          </a:p>
          <a:p>
            <a:r>
              <a:rPr lang="en-US" dirty="0" err="1"/>
              <a:t>LibreChat</a:t>
            </a:r>
            <a:r>
              <a:rPr lang="en-US" dirty="0"/>
              <a:t> also has a strong configuration model.</a:t>
            </a:r>
          </a:p>
          <a:p>
            <a:r>
              <a:rPr lang="en-US" dirty="0"/>
              <a:t>One important difference compared to Open WebUI is that </a:t>
            </a:r>
            <a:r>
              <a:rPr lang="en-US" dirty="0" err="1"/>
              <a:t>LibreChat</a:t>
            </a:r>
            <a:r>
              <a:rPr lang="en-US" dirty="0"/>
              <a:t> focuses more on chat workflows and agents.</a:t>
            </a:r>
          </a:p>
          <a:p>
            <a:r>
              <a:rPr lang="en-US" dirty="0"/>
              <a:t>So if the goal is to give users a familiar ChatGPT-style experience, </a:t>
            </a:r>
            <a:r>
              <a:rPr lang="en-US" dirty="0" err="1"/>
              <a:t>LibreChat</a:t>
            </a:r>
            <a:r>
              <a:rPr lang="en-US" dirty="0"/>
              <a:t> is a strong option.</a:t>
            </a:r>
          </a:p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C058E0-0852-DB43-83D6-BD76659FF1D8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79695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LibreChat</a:t>
            </a:r>
            <a:r>
              <a:rPr lang="en-US" dirty="0"/>
              <a:t> has several strengths.</a:t>
            </a:r>
          </a:p>
          <a:p>
            <a:r>
              <a:rPr lang="en-US" dirty="0"/>
              <a:t>The first one is the familiar ChatGPT-style interface.</a:t>
            </a:r>
            <a:br>
              <a:rPr lang="en-US" dirty="0"/>
            </a:br>
            <a:r>
              <a:rPr lang="en-US" dirty="0"/>
              <a:t>This can make adoption easier for users.</a:t>
            </a:r>
          </a:p>
          <a:p>
            <a:r>
              <a:rPr lang="en-US" dirty="0"/>
              <a:t>It also has an explicit Agent Builder, which is useful for creating agent-based workflows.</a:t>
            </a:r>
          </a:p>
          <a:p>
            <a:r>
              <a:rPr lang="en-US" dirty="0"/>
              <a:t>MCP support is strong and can be used in chats and agents.</a:t>
            </a:r>
          </a:p>
          <a:p>
            <a:r>
              <a:rPr lang="en-US" dirty="0"/>
              <a:t>Another advantage is that </a:t>
            </a:r>
            <a:r>
              <a:rPr lang="en-US" dirty="0" err="1"/>
              <a:t>LibreChat</a:t>
            </a:r>
            <a:r>
              <a:rPr lang="en-US" dirty="0"/>
              <a:t> is MIT licensed.</a:t>
            </a:r>
          </a:p>
          <a:p>
            <a:r>
              <a:rPr lang="en-US" dirty="0"/>
              <a:t>But there are also operational watch-outs.</a:t>
            </a:r>
          </a:p>
          <a:p>
            <a:r>
              <a:rPr lang="en-US" dirty="0" err="1"/>
              <a:t>LibreChat</a:t>
            </a:r>
            <a:r>
              <a:rPr lang="en-US" dirty="0"/>
              <a:t> usually needs more supporting services.</a:t>
            </a:r>
          </a:p>
          <a:p>
            <a:r>
              <a:rPr lang="en-US" dirty="0"/>
              <a:t>The </a:t>
            </a:r>
            <a:r>
              <a:rPr lang="en-US" dirty="0" err="1"/>
              <a:t>LiteLLM</a:t>
            </a:r>
            <a:r>
              <a:rPr lang="en-US" dirty="0"/>
              <a:t> key is configured through YAML or environment variables, so configuration management is very important.</a:t>
            </a:r>
          </a:p>
          <a:p>
            <a:r>
              <a:rPr lang="en-US" dirty="0" err="1"/>
              <a:t>LibreChat</a:t>
            </a:r>
            <a:r>
              <a:rPr lang="en-US" dirty="0"/>
              <a:t> is also quite config-heavy.</a:t>
            </a:r>
            <a:br>
              <a:rPr lang="en-US" dirty="0"/>
            </a:br>
            <a:r>
              <a:rPr lang="en-US" dirty="0"/>
              <a:t>This can be good because it is explicit, but it also means more files and settings to maintain.</a:t>
            </a:r>
          </a:p>
          <a:p>
            <a:r>
              <a:rPr lang="en-US" dirty="0"/>
              <a:t>Configuration changes often require a restart.</a:t>
            </a:r>
          </a:p>
          <a:p>
            <a:r>
              <a:rPr lang="en-US" dirty="0"/>
              <a:t>And the Admin Panel is separate and still more preview-like compared to Open WebUI’s integrated admin experience.</a:t>
            </a:r>
          </a:p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C058E0-0852-DB43-83D6-BD76659FF1D8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7436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how do Open WebUI and </a:t>
            </a:r>
            <a:r>
              <a:rPr lang="en-US" dirty="0" err="1"/>
              <a:t>LibreChat</a:t>
            </a:r>
            <a:r>
              <a:rPr lang="en-US" dirty="0"/>
              <a:t> compare?</a:t>
            </a:r>
          </a:p>
          <a:p>
            <a:r>
              <a:rPr lang="en-US" dirty="0"/>
              <a:t>Open WebUI is better if you want an </a:t>
            </a:r>
            <a:r>
              <a:rPr lang="en-US" b="1" dirty="0"/>
              <a:t>admin-driven workbench</a:t>
            </a:r>
            <a:r>
              <a:rPr lang="en-US" dirty="0"/>
              <a:t>.</a:t>
            </a:r>
          </a:p>
          <a:p>
            <a:r>
              <a:rPr lang="en-US" dirty="0"/>
              <a:t>It has more integrated configuration in the UI.</a:t>
            </a:r>
            <a:br>
              <a:rPr lang="en-US" dirty="0"/>
            </a:br>
            <a:r>
              <a:rPr lang="en-US" dirty="0"/>
              <a:t>Models, knowledge, tools, and RBAC are visible and manageable directly.</a:t>
            </a:r>
          </a:p>
          <a:p>
            <a:r>
              <a:rPr lang="en-US" dirty="0"/>
              <a:t>This makes it very useful for demos, administration, and platform-style setups.</a:t>
            </a:r>
          </a:p>
          <a:p>
            <a:r>
              <a:rPr lang="en-US" dirty="0" err="1"/>
              <a:t>LibreChat</a:t>
            </a:r>
            <a:r>
              <a:rPr lang="en-US" dirty="0"/>
              <a:t> is better if you want a </a:t>
            </a:r>
            <a:r>
              <a:rPr lang="en-US" b="1" dirty="0"/>
              <a:t>ChatGPT-style workflow</a:t>
            </a:r>
            <a:r>
              <a:rPr lang="en-US" dirty="0"/>
              <a:t>.</a:t>
            </a:r>
          </a:p>
          <a:p>
            <a:r>
              <a:rPr lang="en-US" dirty="0"/>
              <a:t>It has a familiar user interface, a clear Agent Builder, and strong MCP workflows.</a:t>
            </a:r>
          </a:p>
          <a:p>
            <a:r>
              <a:rPr lang="en-US" dirty="0"/>
              <a:t>The trade-off is that </a:t>
            </a:r>
            <a:r>
              <a:rPr lang="en-US" dirty="0" err="1"/>
              <a:t>LibreChat</a:t>
            </a:r>
            <a:r>
              <a:rPr lang="en-US" dirty="0"/>
              <a:t> usually needs more configuration files and supporting services.</a:t>
            </a:r>
          </a:p>
          <a:p>
            <a:r>
              <a:rPr lang="en-US" dirty="0"/>
              <a:t>So the choice depends on the use case.</a:t>
            </a:r>
            <a:br>
              <a:rPr lang="en-US" dirty="0"/>
            </a:br>
            <a:r>
              <a:rPr lang="en-US" dirty="0"/>
              <a:t>Open WebUI is stronger for admin-driven workbench scenarios.</a:t>
            </a:r>
            <a:br>
              <a:rPr lang="en-US" dirty="0"/>
            </a:br>
            <a:r>
              <a:rPr lang="en-US" dirty="0" err="1"/>
              <a:t>LibreChat</a:t>
            </a:r>
            <a:r>
              <a:rPr lang="en-US" dirty="0"/>
              <a:t> is stronger for ChatGPT-style agent workflows.</a:t>
            </a:r>
          </a:p>
          <a:p>
            <a:r>
              <a:rPr lang="en-US" dirty="0"/>
              <a:t>Both can use </a:t>
            </a:r>
            <a:r>
              <a:rPr lang="en-US" dirty="0" err="1"/>
              <a:t>LiteLLM</a:t>
            </a:r>
            <a:r>
              <a:rPr lang="en-US" dirty="0"/>
              <a:t> as the central model gateway.</a:t>
            </a:r>
          </a:p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C058E0-0852-DB43-83D6-BD76659FF1D8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1653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let’s look at the demo architecture.</a:t>
            </a:r>
          </a:p>
          <a:p>
            <a:r>
              <a:rPr lang="en-US" dirty="0"/>
              <a:t>The first view shows the main application components.</a:t>
            </a:r>
          </a:p>
          <a:p>
            <a:r>
              <a:rPr lang="en-US" dirty="0"/>
              <a:t>We have </a:t>
            </a:r>
            <a:r>
              <a:rPr lang="en-US" b="1" dirty="0"/>
              <a:t>Open WebUI</a:t>
            </a:r>
            <a:r>
              <a:rPr lang="en-US" dirty="0"/>
              <a:t>, </a:t>
            </a:r>
            <a:r>
              <a:rPr lang="en-US" b="1" dirty="0" err="1"/>
              <a:t>LibreChat</a:t>
            </a:r>
            <a:r>
              <a:rPr lang="en-US" dirty="0"/>
              <a:t>, </a:t>
            </a:r>
            <a:r>
              <a:rPr lang="en-US" b="1" dirty="0" err="1"/>
              <a:t>LibreChat</a:t>
            </a:r>
            <a:r>
              <a:rPr lang="en-US" b="1" dirty="0"/>
              <a:t> Admin</a:t>
            </a:r>
            <a:r>
              <a:rPr lang="en-US" dirty="0"/>
              <a:t>, and </a:t>
            </a:r>
            <a:r>
              <a:rPr lang="en-US" b="1" dirty="0" err="1"/>
              <a:t>LiteLLM</a:t>
            </a:r>
            <a:r>
              <a:rPr lang="en-US" dirty="0"/>
              <a:t>.</a:t>
            </a:r>
          </a:p>
          <a:p>
            <a:r>
              <a:rPr lang="en-US" dirty="0"/>
              <a:t>Open WebUI and </a:t>
            </a:r>
            <a:r>
              <a:rPr lang="en-US" dirty="0" err="1"/>
              <a:t>LibreChat</a:t>
            </a:r>
            <a:r>
              <a:rPr lang="en-US" dirty="0"/>
              <a:t> are the applications users interact with.</a:t>
            </a:r>
          </a:p>
          <a:p>
            <a:r>
              <a:rPr lang="en-US" dirty="0" err="1"/>
              <a:t>LiteLLM</a:t>
            </a:r>
            <a:r>
              <a:rPr lang="en-US" dirty="0"/>
              <a:t> sits behind them and handles access to the model provider.</a:t>
            </a:r>
          </a:p>
          <a:p>
            <a:r>
              <a:rPr lang="en-US" dirty="0" err="1"/>
              <a:t>LibreChat</a:t>
            </a:r>
            <a:r>
              <a:rPr lang="en-US" dirty="0"/>
              <a:t> Admin is shown separately because the admin functionality is not as integrated as in Open WebUI.</a:t>
            </a:r>
          </a:p>
          <a:p>
            <a:r>
              <a:rPr lang="en-US" dirty="0"/>
              <a:t>At this level, the idea is simple:</a:t>
            </a:r>
            <a:br>
              <a:rPr lang="en-US" dirty="0"/>
            </a:br>
            <a:r>
              <a:rPr lang="en-US" dirty="0"/>
              <a:t>users use a chat interface, and the chat interface sends model requests through </a:t>
            </a:r>
            <a:r>
              <a:rPr lang="en-US" dirty="0" err="1"/>
              <a:t>LiteLLM</a:t>
            </a:r>
            <a:r>
              <a:rPr lang="en-US" dirty="0"/>
              <a:t>.</a:t>
            </a:r>
          </a:p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C058E0-0852-DB43-83D6-BD76659FF1D8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27695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next architecture view, we add identity and the model provider.</a:t>
            </a:r>
          </a:p>
          <a:p>
            <a:r>
              <a:rPr lang="en-US" dirty="0"/>
              <a:t>The OpenID provider is </a:t>
            </a:r>
            <a:r>
              <a:rPr lang="en-US" b="1" dirty="0"/>
              <a:t>Microsoft Entra ID</a:t>
            </a:r>
            <a:r>
              <a:rPr lang="en-US" dirty="0"/>
              <a:t>.</a:t>
            </a:r>
          </a:p>
          <a:p>
            <a:r>
              <a:rPr lang="en-US" dirty="0"/>
              <a:t>This is used for user login, so users can authenticate with their existing school or organization account.</a:t>
            </a:r>
          </a:p>
          <a:p>
            <a:r>
              <a:rPr lang="en-US" dirty="0"/>
              <a:t>The LLM provider is </a:t>
            </a:r>
            <a:r>
              <a:rPr lang="en-US" b="1" dirty="0"/>
              <a:t>Azure OpenAI</a:t>
            </a:r>
            <a:r>
              <a:rPr lang="en-US" dirty="0"/>
              <a:t>.</a:t>
            </a:r>
          </a:p>
          <a:p>
            <a:r>
              <a:rPr lang="en-US" dirty="0"/>
              <a:t>Model requests go from the user-facing applications through </a:t>
            </a:r>
            <a:r>
              <a:rPr lang="en-US" dirty="0" err="1"/>
              <a:t>LiteLLM</a:t>
            </a:r>
            <a:r>
              <a:rPr lang="en-US" dirty="0"/>
              <a:t> to Azure OpenAI.</a:t>
            </a:r>
          </a:p>
          <a:p>
            <a:r>
              <a:rPr lang="en-US" dirty="0"/>
              <a:t>One detail in this demo is that Open WebUI goes over </a:t>
            </a:r>
            <a:r>
              <a:rPr lang="en-US" dirty="0" err="1"/>
              <a:t>LibreChat</a:t>
            </a:r>
            <a:r>
              <a:rPr lang="en-US" dirty="0"/>
              <a:t> for SSO.</a:t>
            </a:r>
          </a:p>
          <a:p>
            <a:r>
              <a:rPr lang="en-US" dirty="0"/>
              <a:t>The main point is that identity is essential in a real organizational setup.</a:t>
            </a:r>
          </a:p>
          <a:p>
            <a:r>
              <a:rPr lang="en-US" dirty="0"/>
              <a:t>We do not want a separate unmanaged user system.</a:t>
            </a:r>
            <a:br>
              <a:rPr lang="en-US" dirty="0"/>
            </a:br>
            <a:r>
              <a:rPr lang="en-US" dirty="0"/>
              <a:t>We want users, groups, and access to connect to the existing identity provider.</a:t>
            </a:r>
          </a:p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C058E0-0852-DB43-83D6-BD76659FF1D8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35125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adds the supporting infrastructure.</a:t>
            </a:r>
          </a:p>
          <a:p>
            <a:r>
              <a:rPr lang="en-US" dirty="0"/>
              <a:t>We have </a:t>
            </a:r>
            <a:r>
              <a:rPr lang="en-US" b="1" dirty="0"/>
              <a:t>Redis</a:t>
            </a:r>
            <a:r>
              <a:rPr lang="en-US" dirty="0"/>
              <a:t>, </a:t>
            </a:r>
            <a:r>
              <a:rPr lang="en-US" b="1" dirty="0"/>
              <a:t>Postgres</a:t>
            </a:r>
            <a:r>
              <a:rPr lang="en-US" dirty="0"/>
              <a:t>, </a:t>
            </a:r>
            <a:r>
              <a:rPr lang="en-US" b="1" dirty="0"/>
              <a:t>MongoDB</a:t>
            </a:r>
            <a:r>
              <a:rPr lang="en-US" dirty="0"/>
              <a:t>, and </a:t>
            </a:r>
            <a:r>
              <a:rPr lang="en-US" b="1" dirty="0"/>
              <a:t>Key Vault</a:t>
            </a:r>
            <a:r>
              <a:rPr lang="en-US" dirty="0"/>
              <a:t>.</a:t>
            </a:r>
          </a:p>
          <a:p>
            <a:r>
              <a:rPr lang="en-US" dirty="0" err="1"/>
              <a:t>LiteLLM</a:t>
            </a:r>
            <a:r>
              <a:rPr lang="en-US" dirty="0"/>
              <a:t> needs Postgres for persistent data.</a:t>
            </a:r>
          </a:p>
          <a:p>
            <a:r>
              <a:rPr lang="en-US" dirty="0" err="1"/>
              <a:t>LibreChat</a:t>
            </a:r>
            <a:r>
              <a:rPr lang="en-US" dirty="0"/>
              <a:t> uses MongoDB.</a:t>
            </a:r>
          </a:p>
          <a:p>
            <a:r>
              <a:rPr lang="en-US" dirty="0"/>
              <a:t>Redis is used as supporting infrastructure.</a:t>
            </a:r>
          </a:p>
          <a:p>
            <a:r>
              <a:rPr lang="en-US" dirty="0"/>
              <a:t>Key Vault is used for secrets.</a:t>
            </a:r>
          </a:p>
          <a:p>
            <a:r>
              <a:rPr lang="en-US" dirty="0"/>
              <a:t>This is important because a realistic deployment is not just one container.</a:t>
            </a:r>
            <a:br>
              <a:rPr lang="en-US" dirty="0"/>
            </a:br>
            <a:r>
              <a:rPr lang="en-US" dirty="0"/>
              <a:t>There are databases, secrets, identities, and configuration that need to be managed.</a:t>
            </a:r>
          </a:p>
          <a:p>
            <a:r>
              <a:rPr lang="en-US" dirty="0"/>
              <a:t>Key Vault helps avoid storing secrets directly in application settings or configuration files.</a:t>
            </a:r>
          </a:p>
          <a:p>
            <a:r>
              <a:rPr lang="en-US" dirty="0"/>
              <a:t>Together, these components make the setup much closer to a real platform.</a:t>
            </a:r>
          </a:p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C058E0-0852-DB43-83D6-BD76659FF1D8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8570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shows the GitHub repository for the demo.</a:t>
            </a:r>
          </a:p>
          <a:p>
            <a:r>
              <a:rPr lang="en-US" dirty="0"/>
              <a:t>The repository is: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melanie-bauer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/azure-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llm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-chat-demo</a:t>
            </a:r>
            <a:endParaRPr lang="en-US" dirty="0"/>
          </a:p>
          <a:p>
            <a:r>
              <a:rPr lang="en-US" dirty="0"/>
              <a:t>It contains the implementation for the architecture shown in the presentation.</a:t>
            </a:r>
          </a:p>
          <a:p>
            <a:r>
              <a:rPr lang="en-US" dirty="0"/>
              <a:t>The idea is that the setup should be reproducible, not just manually configured.</a:t>
            </a:r>
          </a:p>
          <a:p>
            <a:r>
              <a:rPr lang="en-US" dirty="0"/>
              <a:t>The repository shows how the Azure infrastructure and the applications fit together.</a:t>
            </a:r>
          </a:p>
          <a:p>
            <a:r>
              <a:rPr lang="en-US" dirty="0"/>
              <a:t>It is a demo setup, so for production you would still need to review security, monitoring, backups, and operational processes.</a:t>
            </a:r>
          </a:p>
          <a:p>
            <a:r>
              <a:rPr lang="en-US" dirty="0"/>
              <a:t>But it provides a concrete starting point.</a:t>
            </a:r>
          </a:p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C058E0-0852-DB43-83D6-BD76659FF1D8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22146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summarize the main message:</a:t>
            </a:r>
          </a:p>
          <a:p>
            <a:r>
              <a:rPr lang="en-US" dirty="0"/>
              <a:t>An AI chat platform is more than just a frontend for a model.</a:t>
            </a:r>
          </a:p>
          <a:p>
            <a:r>
              <a:rPr lang="en-US" dirty="0" err="1"/>
              <a:t>LiteLLM</a:t>
            </a:r>
            <a:r>
              <a:rPr lang="en-US" dirty="0"/>
              <a:t> gives us a central gateway for model access, budgets, rate limits, and provider abstraction.</a:t>
            </a:r>
          </a:p>
          <a:p>
            <a:r>
              <a:rPr lang="en-US" dirty="0"/>
              <a:t>Open WebUI gives us an admin-friendly AI workbench.</a:t>
            </a:r>
          </a:p>
          <a:p>
            <a:r>
              <a:rPr lang="en-US" dirty="0" err="1"/>
              <a:t>LibreChat</a:t>
            </a:r>
            <a:r>
              <a:rPr lang="en-US" dirty="0"/>
              <a:t> gives us a familiar ChatGPT-style workflow with strong agent features.</a:t>
            </a:r>
          </a:p>
          <a:p>
            <a:r>
              <a:rPr lang="en-US" dirty="0"/>
              <a:t>In Azure, we can combine these tools with Entra ID, Azure OpenAI, Key Vault, managed identities, Infrastructure as Code, and CI/CD.</a:t>
            </a:r>
          </a:p>
          <a:p>
            <a:r>
              <a:rPr lang="en-US" dirty="0"/>
              <a:t>The key takeaway is:</a:t>
            </a:r>
            <a:br>
              <a:rPr lang="en-US" dirty="0"/>
            </a:br>
            <a:r>
              <a:rPr lang="en-US" dirty="0"/>
              <a:t>we should think about identity, budgets, governance, and operations from the beginning.</a:t>
            </a:r>
          </a:p>
          <a:p>
            <a:r>
              <a:rPr lang="en-US" dirty="0"/>
              <a:t>Thank you very much for listening. I’m happy to take questions.</a:t>
            </a:r>
          </a:p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C058E0-0852-DB43-83D6-BD76659FF1D8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63224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F51FEA09-E4BD-0741-D624-EED4A231C599}"/>
              </a:ext>
            </a:extLst>
          </p:cNvPr>
          <p:cNvSpPr/>
          <p:nvPr userDrawn="1"/>
        </p:nvSpPr>
        <p:spPr>
          <a:xfrm rot="10800000">
            <a:off x="853427" y="5650992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0"/>
                </a:schemeClr>
              </a:gs>
              <a:gs pos="99000">
                <a:schemeClr val="accent3">
                  <a:alpha val="71647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B707B5BA-AB15-D1EF-EBC5-F38FCE20FC52}"/>
              </a:ext>
            </a:extLst>
          </p:cNvPr>
          <p:cNvSpPr/>
          <p:nvPr userDrawn="1"/>
        </p:nvSpPr>
        <p:spPr>
          <a:xfrm rot="710202" flipV="1">
            <a:off x="-145573" y="4175628"/>
            <a:ext cx="6040006" cy="3240870"/>
          </a:xfrm>
          <a:custGeom>
            <a:avLst/>
            <a:gdLst>
              <a:gd name="connsiteX0" fmla="*/ 480125 w 6747252"/>
              <a:gd name="connsiteY0" fmla="*/ 0 h 3620355"/>
              <a:gd name="connsiteX1" fmla="*/ 6747252 w 6747252"/>
              <a:gd name="connsiteY1" fmla="*/ 1313462 h 3620355"/>
              <a:gd name="connsiteX2" fmla="*/ 6355443 w 6747252"/>
              <a:gd name="connsiteY2" fmla="*/ 1443581 h 3620355"/>
              <a:gd name="connsiteX3" fmla="*/ 4058536 w 6747252"/>
              <a:gd name="connsiteY3" fmla="*/ 2678500 h 3620355"/>
              <a:gd name="connsiteX4" fmla="*/ 33178 w 6747252"/>
              <a:gd name="connsiteY4" fmla="*/ 2369641 h 3620355"/>
              <a:gd name="connsiteX5" fmla="*/ 0 w 6747252"/>
              <a:gd name="connsiteY5" fmla="*/ 2290898 h 3620355"/>
              <a:gd name="connsiteX6" fmla="*/ 480125 w 6747252"/>
              <a:gd name="connsiteY6" fmla="*/ 0 h 3620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47252" h="3620355">
                <a:moveTo>
                  <a:pt x="480125" y="0"/>
                </a:moveTo>
                <a:lnTo>
                  <a:pt x="6747252" y="1313462"/>
                </a:lnTo>
                <a:lnTo>
                  <a:pt x="6355443" y="1443581"/>
                </a:lnTo>
                <a:cubicBezTo>
                  <a:pt x="5476828" y="1758684"/>
                  <a:pt x="4659690" y="2192443"/>
                  <a:pt x="4058536" y="2678500"/>
                </a:cubicBezTo>
                <a:cubicBezTo>
                  <a:pt x="2102261" y="4268418"/>
                  <a:pt x="625747" y="3626023"/>
                  <a:pt x="33178" y="2369641"/>
                </a:cubicBezTo>
                <a:lnTo>
                  <a:pt x="0" y="2290898"/>
                </a:lnTo>
                <a:lnTo>
                  <a:pt x="480125" y="0"/>
                </a:lnTo>
                <a:close/>
              </a:path>
            </a:pathLst>
          </a:custGeom>
          <a:gradFill flip="none" rotWithShape="1">
            <a:gsLst>
              <a:gs pos="97000">
                <a:schemeClr val="accent3">
                  <a:lumMod val="50000"/>
                  <a:alpha val="21210"/>
                </a:schemeClr>
              </a:gs>
              <a:gs pos="72000">
                <a:schemeClr val="accent4">
                  <a:lumMod val="50000"/>
                </a:schemeClr>
              </a:gs>
              <a:gs pos="3000">
                <a:schemeClr val="accent6">
                  <a:alpha val="53787"/>
                </a:schemeClr>
              </a:gs>
            </a:gsLst>
            <a:lin ang="81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1AF73CC-B23B-6DCD-7E3E-8213485DF9B7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5999" y="3104925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reeform 1">
            <a:extLst>
              <a:ext uri="{FF2B5EF4-FFF2-40B4-BE49-F238E27FC236}">
                <a16:creationId xmlns:a16="http://schemas.microsoft.com/office/drawing/2014/main" id="{0319ECD0-7050-C18F-AC35-7F8DFA288A58}"/>
              </a:ext>
            </a:extLst>
          </p:cNvPr>
          <p:cNvSpPr/>
          <p:nvPr userDrawn="1"/>
        </p:nvSpPr>
        <p:spPr>
          <a:xfrm>
            <a:off x="-24334" y="1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5011629 w 12218982"/>
              <a:gd name="connsiteY10" fmla="*/ 121918 h 6860673"/>
              <a:gd name="connsiteX11" fmla="*/ 4783396 w 12218982"/>
              <a:gd name="connsiteY11" fmla="*/ 139697 h 6860673"/>
              <a:gd name="connsiteX12" fmla="*/ 4570293 w 12218982"/>
              <a:gd name="connsiteY12" fmla="*/ 145085 h 6860673"/>
              <a:gd name="connsiteX13" fmla="*/ 692864 w 12218982"/>
              <a:gd name="connsiteY13" fmla="*/ 2723368 h 6860673"/>
              <a:gd name="connsiteX14" fmla="*/ 653810 w 12218982"/>
              <a:gd name="connsiteY14" fmla="*/ 2809752 h 6860673"/>
              <a:gd name="connsiteX15" fmla="*/ 633474 w 12218982"/>
              <a:gd name="connsiteY15" fmla="*/ 2851993 h 6860673"/>
              <a:gd name="connsiteX16" fmla="*/ 551923 w 12218982"/>
              <a:gd name="connsiteY16" fmla="*/ 3041708 h 6860673"/>
              <a:gd name="connsiteX17" fmla="*/ 532245 w 12218982"/>
              <a:gd name="connsiteY17" fmla="*/ 3101107 h 6860673"/>
              <a:gd name="connsiteX18" fmla="*/ 519820 w 12218982"/>
              <a:gd name="connsiteY18" fmla="*/ 3132620 h 6860673"/>
              <a:gd name="connsiteX19" fmla="*/ 242995 w 12218982"/>
              <a:gd name="connsiteY19" fmla="*/ 4701210 h 6860673"/>
              <a:gd name="connsiteX20" fmla="*/ 692864 w 12218982"/>
              <a:gd name="connsiteY20" fmla="*/ 6679052 h 6860673"/>
              <a:gd name="connsiteX21" fmla="*/ 784515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5278815" y="113616"/>
                  <a:pt x="5143479" y="115764"/>
                  <a:pt x="5011629" y="121918"/>
                </a:cubicBezTo>
                <a:lnTo>
                  <a:pt x="4783396" y="139697"/>
                </a:lnTo>
                <a:lnTo>
                  <a:pt x="4570293" y="145085"/>
                </a:lnTo>
                <a:cubicBezTo>
                  <a:pt x="2859647" y="231798"/>
                  <a:pt x="1397605" y="1260791"/>
                  <a:pt x="692864" y="2723368"/>
                </a:cubicBezTo>
                <a:lnTo>
                  <a:pt x="653810" y="2809752"/>
                </a:lnTo>
                <a:lnTo>
                  <a:pt x="633474" y="2851993"/>
                </a:lnTo>
                <a:cubicBezTo>
                  <a:pt x="600933" y="2920155"/>
                  <a:pt x="575052" y="2977311"/>
                  <a:pt x="551923" y="3041708"/>
                </a:cubicBezTo>
                <a:lnTo>
                  <a:pt x="532245" y="3101107"/>
                </a:lnTo>
                <a:lnTo>
                  <a:pt x="519820" y="3132620"/>
                </a:lnTo>
                <a:cubicBezTo>
                  <a:pt x="340732" y="3621732"/>
                  <a:pt x="242995" y="4150057"/>
                  <a:pt x="242995" y="4701210"/>
                </a:cubicBezTo>
                <a:cubicBezTo>
                  <a:pt x="242995" y="5409836"/>
                  <a:pt x="404560" y="6080725"/>
                  <a:pt x="692864" y="6679052"/>
                </a:cubicBezTo>
                <a:lnTo>
                  <a:pt x="784515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31889"/>
                </a:schemeClr>
              </a:gs>
              <a:gs pos="77000">
                <a:schemeClr val="accent3">
                  <a:lumMod val="25000"/>
                  <a:alpha val="0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332954FC-1C1B-B277-413F-3CBA66FD1EAD}"/>
              </a:ext>
            </a:extLst>
          </p:cNvPr>
          <p:cNvSpPr/>
          <p:nvPr userDrawn="1"/>
        </p:nvSpPr>
        <p:spPr>
          <a:xfrm flipH="1" flipV="1">
            <a:off x="-26982" y="9939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5011629 w 12218982"/>
              <a:gd name="connsiteY10" fmla="*/ 121918 h 6860673"/>
              <a:gd name="connsiteX11" fmla="*/ 4783396 w 12218982"/>
              <a:gd name="connsiteY11" fmla="*/ 139697 h 6860673"/>
              <a:gd name="connsiteX12" fmla="*/ 4570293 w 12218982"/>
              <a:gd name="connsiteY12" fmla="*/ 145085 h 6860673"/>
              <a:gd name="connsiteX13" fmla="*/ 692864 w 12218982"/>
              <a:gd name="connsiteY13" fmla="*/ 2723368 h 6860673"/>
              <a:gd name="connsiteX14" fmla="*/ 653810 w 12218982"/>
              <a:gd name="connsiteY14" fmla="*/ 2809752 h 6860673"/>
              <a:gd name="connsiteX15" fmla="*/ 633474 w 12218982"/>
              <a:gd name="connsiteY15" fmla="*/ 2851993 h 6860673"/>
              <a:gd name="connsiteX16" fmla="*/ 551923 w 12218982"/>
              <a:gd name="connsiteY16" fmla="*/ 3041708 h 6860673"/>
              <a:gd name="connsiteX17" fmla="*/ 532245 w 12218982"/>
              <a:gd name="connsiteY17" fmla="*/ 3101107 h 6860673"/>
              <a:gd name="connsiteX18" fmla="*/ 519820 w 12218982"/>
              <a:gd name="connsiteY18" fmla="*/ 3132620 h 6860673"/>
              <a:gd name="connsiteX19" fmla="*/ 242995 w 12218982"/>
              <a:gd name="connsiteY19" fmla="*/ 4701210 h 6860673"/>
              <a:gd name="connsiteX20" fmla="*/ 692864 w 12218982"/>
              <a:gd name="connsiteY20" fmla="*/ 6679052 h 6860673"/>
              <a:gd name="connsiteX21" fmla="*/ 784515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5278815" y="113616"/>
                  <a:pt x="5143479" y="115764"/>
                  <a:pt x="5011629" y="121918"/>
                </a:cubicBezTo>
                <a:lnTo>
                  <a:pt x="4783396" y="139697"/>
                </a:lnTo>
                <a:lnTo>
                  <a:pt x="4570293" y="145085"/>
                </a:lnTo>
                <a:cubicBezTo>
                  <a:pt x="2859647" y="231798"/>
                  <a:pt x="1397605" y="1260791"/>
                  <a:pt x="692864" y="2723368"/>
                </a:cubicBezTo>
                <a:lnTo>
                  <a:pt x="653810" y="2809752"/>
                </a:lnTo>
                <a:lnTo>
                  <a:pt x="633474" y="2851993"/>
                </a:lnTo>
                <a:cubicBezTo>
                  <a:pt x="600933" y="2920155"/>
                  <a:pt x="575052" y="2977311"/>
                  <a:pt x="551923" y="3041708"/>
                </a:cubicBezTo>
                <a:lnTo>
                  <a:pt x="532245" y="3101107"/>
                </a:lnTo>
                <a:lnTo>
                  <a:pt x="519820" y="3132620"/>
                </a:lnTo>
                <a:cubicBezTo>
                  <a:pt x="340732" y="3621732"/>
                  <a:pt x="242995" y="4150057"/>
                  <a:pt x="242995" y="4701210"/>
                </a:cubicBezTo>
                <a:cubicBezTo>
                  <a:pt x="242995" y="5409836"/>
                  <a:pt x="404560" y="6080725"/>
                  <a:pt x="692864" y="6679052"/>
                </a:cubicBezTo>
                <a:lnTo>
                  <a:pt x="784515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50000"/>
                </a:schemeClr>
              </a:gs>
              <a:gs pos="77000">
                <a:schemeClr val="accent3">
                  <a:lumMod val="25000"/>
                  <a:alpha val="0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9AD65933-4DAE-2A46-C7F9-2A20CB244088}"/>
              </a:ext>
            </a:extLst>
          </p:cNvPr>
          <p:cNvSpPr/>
          <p:nvPr userDrawn="1"/>
        </p:nvSpPr>
        <p:spPr>
          <a:xfrm>
            <a:off x="4603793" y="0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41000">
                <a:schemeClr val="accent5">
                  <a:alpha val="21000"/>
                </a:schemeClr>
              </a:gs>
              <a:gs pos="98000">
                <a:schemeClr val="accent5">
                  <a:lumMod val="50000"/>
                </a:schemeClr>
              </a:gs>
            </a:gsLst>
            <a:lin ang="13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078C0FDD-401B-0E80-5823-215C99BAE6B2}"/>
              </a:ext>
            </a:extLst>
          </p:cNvPr>
          <p:cNvSpPr/>
          <p:nvPr userDrawn="1"/>
        </p:nvSpPr>
        <p:spPr>
          <a:xfrm rot="710202" flipH="1">
            <a:off x="6511239" y="-551340"/>
            <a:ext cx="5838132" cy="3132551"/>
          </a:xfrm>
          <a:custGeom>
            <a:avLst/>
            <a:gdLst>
              <a:gd name="connsiteX0" fmla="*/ 480125 w 6747252"/>
              <a:gd name="connsiteY0" fmla="*/ 0 h 3620355"/>
              <a:gd name="connsiteX1" fmla="*/ 6747252 w 6747252"/>
              <a:gd name="connsiteY1" fmla="*/ 1313462 h 3620355"/>
              <a:gd name="connsiteX2" fmla="*/ 6355443 w 6747252"/>
              <a:gd name="connsiteY2" fmla="*/ 1443581 h 3620355"/>
              <a:gd name="connsiteX3" fmla="*/ 4058536 w 6747252"/>
              <a:gd name="connsiteY3" fmla="*/ 2678500 h 3620355"/>
              <a:gd name="connsiteX4" fmla="*/ 33178 w 6747252"/>
              <a:gd name="connsiteY4" fmla="*/ 2369641 h 3620355"/>
              <a:gd name="connsiteX5" fmla="*/ 0 w 6747252"/>
              <a:gd name="connsiteY5" fmla="*/ 2290898 h 3620355"/>
              <a:gd name="connsiteX6" fmla="*/ 480125 w 6747252"/>
              <a:gd name="connsiteY6" fmla="*/ 0 h 3620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47252" h="3620355">
                <a:moveTo>
                  <a:pt x="480125" y="0"/>
                </a:moveTo>
                <a:lnTo>
                  <a:pt x="6747252" y="1313462"/>
                </a:lnTo>
                <a:lnTo>
                  <a:pt x="6355443" y="1443581"/>
                </a:lnTo>
                <a:cubicBezTo>
                  <a:pt x="5476828" y="1758684"/>
                  <a:pt x="4659690" y="2192443"/>
                  <a:pt x="4058536" y="2678500"/>
                </a:cubicBezTo>
                <a:cubicBezTo>
                  <a:pt x="2102261" y="4268418"/>
                  <a:pt x="625747" y="3626023"/>
                  <a:pt x="33178" y="2369641"/>
                </a:cubicBezTo>
                <a:lnTo>
                  <a:pt x="0" y="2290898"/>
                </a:lnTo>
                <a:lnTo>
                  <a:pt x="480125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4">
                  <a:lumMod val="75000"/>
                  <a:alpha val="19000"/>
                </a:schemeClr>
              </a:gs>
              <a:gs pos="0">
                <a:schemeClr val="accent6">
                  <a:alpha val="61994"/>
                </a:schemeClr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3584" y="2176272"/>
            <a:ext cx="9921240" cy="1481328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20" y="4261104"/>
            <a:ext cx="7068312" cy="758952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569340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5">
            <a:extLst>
              <a:ext uri="{FF2B5EF4-FFF2-40B4-BE49-F238E27FC236}">
                <a16:creationId xmlns:a16="http://schemas.microsoft.com/office/drawing/2014/main" id="{079F0D65-9DED-1DC3-6E6D-E4AD5252A007}"/>
              </a:ext>
            </a:extLst>
          </p:cNvPr>
          <p:cNvSpPr/>
          <p:nvPr userDrawn="1"/>
        </p:nvSpPr>
        <p:spPr>
          <a:xfrm rot="16200000" flipV="1">
            <a:off x="6507450" y="1163358"/>
            <a:ext cx="6858000" cy="4531278"/>
          </a:xfrm>
          <a:custGeom>
            <a:avLst/>
            <a:gdLst>
              <a:gd name="connsiteX0" fmla="*/ 6858000 w 6858000"/>
              <a:gd name="connsiteY0" fmla="*/ 3150313 h 3750964"/>
              <a:gd name="connsiteX1" fmla="*/ 6858000 w 6858000"/>
              <a:gd name="connsiteY1" fmla="*/ 0 h 3750964"/>
              <a:gd name="connsiteX2" fmla="*/ 0 w 6858000"/>
              <a:gd name="connsiteY2" fmla="*/ 0 h 3750964"/>
              <a:gd name="connsiteX3" fmla="*/ 0 w 6858000"/>
              <a:gd name="connsiteY3" fmla="*/ 3220894 h 3750964"/>
              <a:gd name="connsiteX4" fmla="*/ 10973 w 6858000"/>
              <a:gd name="connsiteY4" fmla="*/ 3230398 h 3750964"/>
              <a:gd name="connsiteX5" fmla="*/ 1661251 w 6858000"/>
              <a:gd name="connsiteY5" fmla="*/ 3750927 h 3750964"/>
              <a:gd name="connsiteX6" fmla="*/ 4893397 w 6858000"/>
              <a:gd name="connsiteY6" fmla="*/ 2661368 h 3750964"/>
              <a:gd name="connsiteX7" fmla="*/ 6834019 w 6858000"/>
              <a:gd name="connsiteY7" fmla="*/ 3137932 h 3750964"/>
              <a:gd name="connsiteX8" fmla="*/ 6858000 w 6858000"/>
              <a:gd name="connsiteY8" fmla="*/ 3150313 h 3750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3750964">
                <a:moveTo>
                  <a:pt x="6858000" y="3150313"/>
                </a:moveTo>
                <a:lnTo>
                  <a:pt x="6858000" y="0"/>
                </a:lnTo>
                <a:lnTo>
                  <a:pt x="0" y="0"/>
                </a:lnTo>
                <a:lnTo>
                  <a:pt x="0" y="3220894"/>
                </a:lnTo>
                <a:lnTo>
                  <a:pt x="10973" y="3230398"/>
                </a:lnTo>
                <a:cubicBezTo>
                  <a:pt x="366756" y="3514112"/>
                  <a:pt x="933081" y="3754395"/>
                  <a:pt x="1661251" y="3750927"/>
                </a:cubicBezTo>
                <a:cubicBezTo>
                  <a:pt x="2955776" y="3744762"/>
                  <a:pt x="3514049" y="2682714"/>
                  <a:pt x="4893397" y="2661368"/>
                </a:cubicBezTo>
                <a:cubicBezTo>
                  <a:pt x="5755490" y="2648026"/>
                  <a:pt x="6380835" y="2908605"/>
                  <a:pt x="6834019" y="3137932"/>
                </a:cubicBezTo>
                <a:lnTo>
                  <a:pt x="6858000" y="3150313"/>
                </a:lnTo>
                <a:close/>
              </a:path>
            </a:pathLst>
          </a:custGeom>
          <a:solidFill>
            <a:schemeClr val="accent4">
              <a:alpha val="14239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18">
            <a:extLst>
              <a:ext uri="{FF2B5EF4-FFF2-40B4-BE49-F238E27FC236}">
                <a16:creationId xmlns:a16="http://schemas.microsoft.com/office/drawing/2014/main" id="{9C605622-8F1F-632F-D5C0-1F2E7875EBA1}"/>
              </a:ext>
            </a:extLst>
          </p:cNvPr>
          <p:cNvSpPr/>
          <p:nvPr userDrawn="1"/>
        </p:nvSpPr>
        <p:spPr>
          <a:xfrm rot="5400000">
            <a:off x="6488397" y="1182411"/>
            <a:ext cx="6858000" cy="4493171"/>
          </a:xfrm>
          <a:custGeom>
            <a:avLst/>
            <a:gdLst>
              <a:gd name="connsiteX0" fmla="*/ 0 w 6858000"/>
              <a:gd name="connsiteY0" fmla="*/ 3300688 h 4744323"/>
              <a:gd name="connsiteX1" fmla="*/ 0 w 6858000"/>
              <a:gd name="connsiteY1" fmla="*/ 0 h 4744323"/>
              <a:gd name="connsiteX2" fmla="*/ 6858000 w 6858000"/>
              <a:gd name="connsiteY2" fmla="*/ 0 h 4744323"/>
              <a:gd name="connsiteX3" fmla="*/ 6858000 w 6858000"/>
              <a:gd name="connsiteY3" fmla="*/ 3130282 h 4744323"/>
              <a:gd name="connsiteX4" fmla="*/ 6685009 w 6858000"/>
              <a:gd name="connsiteY4" fmla="*/ 3177721 h 4744323"/>
              <a:gd name="connsiteX5" fmla="*/ 2944852 w 6858000"/>
              <a:gd name="connsiteY5" fmla="*/ 4744264 h 4744323"/>
              <a:gd name="connsiteX6" fmla="*/ 88593 w 6858000"/>
              <a:gd name="connsiteY6" fmla="*/ 3449517 h 4744323"/>
              <a:gd name="connsiteX7" fmla="*/ 0 w 6858000"/>
              <a:gd name="connsiteY7" fmla="*/ 3300688 h 4744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744323">
                <a:moveTo>
                  <a:pt x="0" y="3300688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3130282"/>
                </a:lnTo>
                <a:lnTo>
                  <a:pt x="6685009" y="3177721"/>
                </a:lnTo>
                <a:cubicBezTo>
                  <a:pt x="5333681" y="3615865"/>
                  <a:pt x="4498161" y="4736270"/>
                  <a:pt x="2944852" y="4744264"/>
                </a:cubicBezTo>
                <a:cubicBezTo>
                  <a:pt x="1511029" y="4751644"/>
                  <a:pt x="502120" y="4067469"/>
                  <a:pt x="88593" y="3449517"/>
                </a:cubicBezTo>
                <a:lnTo>
                  <a:pt x="0" y="3300688"/>
                </a:lnTo>
                <a:close/>
              </a:path>
            </a:pathLst>
          </a:custGeom>
          <a:gradFill flip="none" rotWithShape="1">
            <a:gsLst>
              <a:gs pos="4000">
                <a:schemeClr val="accent2">
                  <a:alpha val="23589"/>
                </a:schemeClr>
              </a:gs>
              <a:gs pos="79000">
                <a:schemeClr val="accent5">
                  <a:lumMod val="50000"/>
                  <a:alpha val="5218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 12">
            <a:extLst>
              <a:ext uri="{FF2B5EF4-FFF2-40B4-BE49-F238E27FC236}">
                <a16:creationId xmlns:a16="http://schemas.microsoft.com/office/drawing/2014/main" id="{919AB4B2-2D3A-FCB5-0314-CC465BCC0E5D}"/>
              </a:ext>
            </a:extLst>
          </p:cNvPr>
          <p:cNvSpPr/>
          <p:nvPr userDrawn="1"/>
        </p:nvSpPr>
        <p:spPr>
          <a:xfrm rot="5400000">
            <a:off x="6926379" y="1582290"/>
            <a:ext cx="6858001" cy="3693421"/>
          </a:xfrm>
          <a:custGeom>
            <a:avLst/>
            <a:gdLst>
              <a:gd name="connsiteX0" fmla="*/ 0 w 6858001"/>
              <a:gd name="connsiteY0" fmla="*/ 3437558 h 3693421"/>
              <a:gd name="connsiteX1" fmla="*/ 0 w 6858001"/>
              <a:gd name="connsiteY1" fmla="*/ 0 h 3693421"/>
              <a:gd name="connsiteX2" fmla="*/ 6858001 w 6858001"/>
              <a:gd name="connsiteY2" fmla="*/ 0 h 3693421"/>
              <a:gd name="connsiteX3" fmla="*/ 6858001 w 6858001"/>
              <a:gd name="connsiteY3" fmla="*/ 1982949 h 3693421"/>
              <a:gd name="connsiteX4" fmla="*/ 6594582 w 6858001"/>
              <a:gd name="connsiteY4" fmla="*/ 1960784 h 3693421"/>
              <a:gd name="connsiteX5" fmla="*/ 6223032 w 6858001"/>
              <a:gd name="connsiteY5" fmla="*/ 1954544 h 3693421"/>
              <a:gd name="connsiteX6" fmla="*/ 1449771 w 6858001"/>
              <a:gd name="connsiteY6" fmla="*/ 3693362 h 3693421"/>
              <a:gd name="connsiteX7" fmla="*/ 163899 w 6858001"/>
              <a:gd name="connsiteY7" fmla="*/ 3498289 h 3693421"/>
              <a:gd name="connsiteX8" fmla="*/ 0 w 6858001"/>
              <a:gd name="connsiteY8" fmla="*/ 3437558 h 3693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1" h="3693421">
                <a:moveTo>
                  <a:pt x="0" y="3437558"/>
                </a:moveTo>
                <a:lnTo>
                  <a:pt x="0" y="0"/>
                </a:lnTo>
                <a:lnTo>
                  <a:pt x="6858001" y="0"/>
                </a:lnTo>
                <a:lnTo>
                  <a:pt x="6858001" y="1982949"/>
                </a:lnTo>
                <a:lnTo>
                  <a:pt x="6594582" y="1960784"/>
                </a:lnTo>
                <a:cubicBezTo>
                  <a:pt x="6474164" y="1954657"/>
                  <a:pt x="6350346" y="1952415"/>
                  <a:pt x="6223032" y="1954544"/>
                </a:cubicBezTo>
                <a:cubicBezTo>
                  <a:pt x="4185999" y="1988612"/>
                  <a:pt x="3361537" y="3683524"/>
                  <a:pt x="1449771" y="3693362"/>
                </a:cubicBezTo>
                <a:cubicBezTo>
                  <a:pt x="971830" y="3695822"/>
                  <a:pt x="541102" y="3621442"/>
                  <a:pt x="163899" y="3498289"/>
                </a:cubicBezTo>
                <a:lnTo>
                  <a:pt x="0" y="3437558"/>
                </a:lnTo>
                <a:close/>
              </a:path>
            </a:pathLst>
          </a:custGeom>
          <a:gradFill>
            <a:gsLst>
              <a:gs pos="84000">
                <a:schemeClr val="accent4">
                  <a:alpha val="20000"/>
                </a:schemeClr>
              </a:gs>
              <a:gs pos="1000">
                <a:schemeClr val="accent6">
                  <a:alpha val="38000"/>
                </a:schemeClr>
              </a:gs>
              <a:gs pos="100000">
                <a:schemeClr val="accent6">
                  <a:alpha val="3349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92257B9-FE58-1976-7115-17E05E5819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294A09A9-5501-47C1-A89A-A340965A2BE2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F040BB-6465-852C-B53C-074E90BB09D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6192" y="832104"/>
            <a:ext cx="8878824" cy="1069848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6192" y="2212848"/>
            <a:ext cx="6422136" cy="3282696"/>
          </a:xfrm>
        </p:spPr>
        <p:txBody>
          <a:bodyPr>
            <a:noAutofit/>
          </a:bodyPr>
          <a:lstStyle>
            <a:lvl1pPr marL="347472">
              <a:lnSpc>
                <a:spcPct val="150000"/>
              </a:lnSpc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63167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9BE68DE5-FB8F-C713-B589-69851789C6C5}"/>
              </a:ext>
            </a:extLst>
          </p:cNvPr>
          <p:cNvSpPr/>
          <p:nvPr userDrawn="1"/>
        </p:nvSpPr>
        <p:spPr>
          <a:xfrm>
            <a:off x="1" y="4852144"/>
            <a:ext cx="5681755" cy="2002200"/>
          </a:xfrm>
          <a:custGeom>
            <a:avLst/>
            <a:gdLst>
              <a:gd name="connsiteX0" fmla="*/ 320629 w 5681755"/>
              <a:gd name="connsiteY0" fmla="*/ 0 h 2002200"/>
              <a:gd name="connsiteX1" fmla="*/ 375829 w 5681755"/>
              <a:gd name="connsiteY1" fmla="*/ 158026 h 2002200"/>
              <a:gd name="connsiteX2" fmla="*/ 897491 w 5681755"/>
              <a:gd name="connsiteY2" fmla="*/ 961690 h 2002200"/>
              <a:gd name="connsiteX3" fmla="*/ 4054478 w 5681755"/>
              <a:gd name="connsiteY3" fmla="*/ 1474149 h 2002200"/>
              <a:gd name="connsiteX4" fmla="*/ 5679398 w 5681755"/>
              <a:gd name="connsiteY4" fmla="*/ 1986034 h 2002200"/>
              <a:gd name="connsiteX5" fmla="*/ 5681755 w 5681755"/>
              <a:gd name="connsiteY5" fmla="*/ 2002200 h 2002200"/>
              <a:gd name="connsiteX6" fmla="*/ 0 w 5681755"/>
              <a:gd name="connsiteY6" fmla="*/ 1989323 h 2002200"/>
              <a:gd name="connsiteX7" fmla="*/ 0 w 5681755"/>
              <a:gd name="connsiteY7" fmla="*/ 1952135 h 200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81755" h="2002200">
                <a:moveTo>
                  <a:pt x="320629" y="0"/>
                </a:moveTo>
                <a:lnTo>
                  <a:pt x="375829" y="158026"/>
                </a:lnTo>
                <a:cubicBezTo>
                  <a:pt x="503741" y="486192"/>
                  <a:pt x="688117" y="753054"/>
                  <a:pt x="897491" y="961690"/>
                </a:cubicBezTo>
                <a:cubicBezTo>
                  <a:pt x="1455821" y="1518049"/>
                  <a:pt x="3033468" y="1694058"/>
                  <a:pt x="4054478" y="1474149"/>
                </a:cubicBezTo>
                <a:cubicBezTo>
                  <a:pt x="5094564" y="1247948"/>
                  <a:pt x="5587838" y="1548928"/>
                  <a:pt x="5679398" y="1986034"/>
                </a:cubicBezTo>
                <a:lnTo>
                  <a:pt x="5681755" y="2002200"/>
                </a:lnTo>
                <a:lnTo>
                  <a:pt x="0" y="1989323"/>
                </a:lnTo>
                <a:lnTo>
                  <a:pt x="0" y="1952135"/>
                </a:lnTo>
                <a:close/>
              </a:path>
            </a:pathLst>
          </a:custGeom>
          <a:gradFill flip="none" rotWithShape="1">
            <a:gsLst>
              <a:gs pos="77000">
                <a:schemeClr val="accent3">
                  <a:lumMod val="25000"/>
                  <a:alpha val="0"/>
                </a:schemeClr>
              </a:gs>
              <a:gs pos="0">
                <a:schemeClr val="tx2">
                  <a:alpha val="7077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6B337A9-EA8E-4E30-3CF4-C681F9705934}"/>
              </a:ext>
            </a:extLst>
          </p:cNvPr>
          <p:cNvSpPr/>
          <p:nvPr userDrawn="1"/>
        </p:nvSpPr>
        <p:spPr>
          <a:xfrm>
            <a:off x="1" y="0"/>
            <a:ext cx="6392389" cy="3297866"/>
          </a:xfrm>
          <a:custGeom>
            <a:avLst/>
            <a:gdLst>
              <a:gd name="connsiteX0" fmla="*/ 0 w 6392389"/>
              <a:gd name="connsiteY0" fmla="*/ 0 h 3297866"/>
              <a:gd name="connsiteX1" fmla="*/ 6392389 w 6392389"/>
              <a:gd name="connsiteY1" fmla="*/ 0 h 3297866"/>
              <a:gd name="connsiteX2" fmla="*/ 6039257 w 6392389"/>
              <a:gd name="connsiteY2" fmla="*/ 205593 h 3297866"/>
              <a:gd name="connsiteX3" fmla="*/ 4044501 w 6392389"/>
              <a:gd name="connsiteY3" fmla="*/ 1885401 h 3297866"/>
              <a:gd name="connsiteX4" fmla="*/ 41384 w 6392389"/>
              <a:gd name="connsiteY4" fmla="*/ 2408804 h 3297866"/>
              <a:gd name="connsiteX5" fmla="*/ 0 w 6392389"/>
              <a:gd name="connsiteY5" fmla="*/ 2349004 h 329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92389" h="3297866">
                <a:moveTo>
                  <a:pt x="0" y="0"/>
                </a:moveTo>
                <a:lnTo>
                  <a:pt x="6392389" y="0"/>
                </a:lnTo>
                <a:lnTo>
                  <a:pt x="6039257" y="205593"/>
                </a:lnTo>
                <a:cubicBezTo>
                  <a:pt x="5243960" y="694220"/>
                  <a:pt x="4533171" y="1286369"/>
                  <a:pt x="4044501" y="1885401"/>
                </a:cubicBezTo>
                <a:cubicBezTo>
                  <a:pt x="2455953" y="3842789"/>
                  <a:pt x="879065" y="3516921"/>
                  <a:pt x="41384" y="2408804"/>
                </a:cubicBezTo>
                <a:lnTo>
                  <a:pt x="0" y="2349004"/>
                </a:lnTo>
                <a:close/>
              </a:path>
            </a:pathLst>
          </a:custGeom>
          <a:gradFill flip="none" rotWithShape="1">
            <a:gsLst>
              <a:gs pos="20000">
                <a:schemeClr val="accent3">
                  <a:lumMod val="25000"/>
                </a:schemeClr>
              </a:gs>
              <a:gs pos="100000">
                <a:schemeClr val="tx2">
                  <a:alpha val="54000"/>
                </a:schemeClr>
              </a:gs>
            </a:gsLst>
            <a:lin ang="102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385D1DB-F6B1-8F65-1FDB-5CDD731A6DFC}"/>
              </a:ext>
            </a:extLst>
          </p:cNvPr>
          <p:cNvSpPr/>
          <p:nvPr userDrawn="1"/>
        </p:nvSpPr>
        <p:spPr>
          <a:xfrm>
            <a:off x="9517205" y="2"/>
            <a:ext cx="2674794" cy="6857999"/>
          </a:xfrm>
          <a:custGeom>
            <a:avLst/>
            <a:gdLst>
              <a:gd name="connsiteX0" fmla="*/ 2674793 w 2674794"/>
              <a:gd name="connsiteY0" fmla="*/ 0 h 6857999"/>
              <a:gd name="connsiteX1" fmla="*/ 2674794 w 2674794"/>
              <a:gd name="connsiteY1" fmla="*/ 6857999 h 6857999"/>
              <a:gd name="connsiteX2" fmla="*/ 1158844 w 2674794"/>
              <a:gd name="connsiteY2" fmla="*/ 6857999 h 6857999"/>
              <a:gd name="connsiteX3" fmla="*/ 1212639 w 2674794"/>
              <a:gd name="connsiteY3" fmla="*/ 6771304 h 6857999"/>
              <a:gd name="connsiteX4" fmla="*/ 1327460 w 2674794"/>
              <a:gd name="connsiteY4" fmla="*/ 6554527 h 6857999"/>
              <a:gd name="connsiteX5" fmla="*/ 545566 w 2674794"/>
              <a:gd name="connsiteY5" fmla="*/ 2293136 h 6857999"/>
              <a:gd name="connsiteX6" fmla="*/ 381787 w 2674794"/>
              <a:gd name="connsiteY6" fmla="*/ 3827 h 6857999"/>
              <a:gd name="connsiteX7" fmla="*/ 386161 w 2674794"/>
              <a:gd name="connsiteY7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74794" h="6857999">
                <a:moveTo>
                  <a:pt x="2674793" y="0"/>
                </a:moveTo>
                <a:lnTo>
                  <a:pt x="2674794" y="6857999"/>
                </a:lnTo>
                <a:lnTo>
                  <a:pt x="1158844" y="6857999"/>
                </a:lnTo>
                <a:lnTo>
                  <a:pt x="1212639" y="6771304"/>
                </a:lnTo>
                <a:cubicBezTo>
                  <a:pt x="1256917" y="6696480"/>
                  <a:pt x="1295401" y="6624001"/>
                  <a:pt x="1327460" y="6554527"/>
                </a:cubicBezTo>
                <a:cubicBezTo>
                  <a:pt x="1840424" y="5442926"/>
                  <a:pt x="1337703" y="3374924"/>
                  <a:pt x="545566" y="2293136"/>
                </a:cubicBezTo>
                <a:cubicBezTo>
                  <a:pt x="-210423" y="1266170"/>
                  <a:pt x="-98154" y="469786"/>
                  <a:pt x="381787" y="3827"/>
                </a:cubicBezTo>
                <a:lnTo>
                  <a:pt x="386161" y="0"/>
                </a:lnTo>
                <a:close/>
              </a:path>
            </a:pathLst>
          </a:custGeom>
          <a:solidFill>
            <a:schemeClr val="tx2">
              <a:alpha val="32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glass card">
            <a:extLst>
              <a:ext uri="{FF2B5EF4-FFF2-40B4-BE49-F238E27FC236}">
                <a16:creationId xmlns:a16="http://schemas.microsoft.com/office/drawing/2014/main" id="{BAC99002-32F5-F4C1-2519-F23274B0580C}"/>
              </a:ext>
            </a:extLst>
          </p:cNvPr>
          <p:cNvSpPr/>
          <p:nvPr userDrawn="1"/>
        </p:nvSpPr>
        <p:spPr>
          <a:xfrm>
            <a:off x="1365705" y="1005155"/>
            <a:ext cx="9243233" cy="4978750"/>
          </a:xfrm>
          <a:prstGeom prst="roundRect">
            <a:avLst>
              <a:gd name="adj" fmla="val 6806"/>
            </a:avLst>
          </a:prstGeom>
          <a:gradFill>
            <a:gsLst>
              <a:gs pos="100000">
                <a:schemeClr val="bg1">
                  <a:alpha val="3000"/>
                </a:schemeClr>
              </a:gs>
              <a:gs pos="47000">
                <a:schemeClr val="bg1">
                  <a:alpha val="17037"/>
                </a:schemeClr>
              </a:gs>
              <a:gs pos="6000">
                <a:schemeClr val="bg1">
                  <a:alpha val="13000"/>
                </a:schemeClr>
              </a:gs>
            </a:gsLst>
            <a:path path="circle">
              <a:fillToRect l="100000" t="100000"/>
            </a:path>
          </a:gradFill>
          <a:ln w="6350">
            <a:noFill/>
          </a:ln>
          <a:effectLst>
            <a:outerShdw blurRad="63500" dist="38100" dir="5400000" sx="1000" sy="1000" algn="t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088" y="2157984"/>
            <a:ext cx="7735824" cy="1069848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8088" y="3685032"/>
            <a:ext cx="7735824" cy="113385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DF239B3-DB66-3CD4-1BFE-4EBA82BC4A44}"/>
              </a:ext>
            </a:extLst>
          </p:cNvPr>
          <p:cNvSpPr/>
          <p:nvPr userDrawn="1"/>
        </p:nvSpPr>
        <p:spPr>
          <a:xfrm>
            <a:off x="0" y="5255333"/>
            <a:ext cx="2769194" cy="1602667"/>
          </a:xfrm>
          <a:custGeom>
            <a:avLst/>
            <a:gdLst>
              <a:gd name="connsiteX0" fmla="*/ 0 w 2769194"/>
              <a:gd name="connsiteY0" fmla="*/ 0 h 1602667"/>
              <a:gd name="connsiteX1" fmla="*/ 93250 w 2769194"/>
              <a:gd name="connsiteY1" fmla="*/ 101565 h 1602667"/>
              <a:gd name="connsiteX2" fmla="*/ 2646213 w 2769194"/>
              <a:gd name="connsiteY2" fmla="*/ 1567071 h 1602667"/>
              <a:gd name="connsiteX3" fmla="*/ 2769194 w 2769194"/>
              <a:gd name="connsiteY3" fmla="*/ 1602667 h 1602667"/>
              <a:gd name="connsiteX4" fmla="*/ 0 w 2769194"/>
              <a:gd name="connsiteY4" fmla="*/ 1602667 h 1602667"/>
              <a:gd name="connsiteX5" fmla="*/ 0 w 2769194"/>
              <a:gd name="connsiteY5" fmla="*/ 807120 h 1602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69194" h="1602667">
                <a:moveTo>
                  <a:pt x="0" y="0"/>
                </a:moveTo>
                <a:lnTo>
                  <a:pt x="93250" y="101565"/>
                </a:lnTo>
                <a:cubicBezTo>
                  <a:pt x="702540" y="735306"/>
                  <a:pt x="1672588" y="1259605"/>
                  <a:pt x="2646213" y="1567071"/>
                </a:cubicBezTo>
                <a:lnTo>
                  <a:pt x="2769194" y="1602667"/>
                </a:lnTo>
                <a:lnTo>
                  <a:pt x="0" y="1602667"/>
                </a:lnTo>
                <a:lnTo>
                  <a:pt x="0" y="807120"/>
                </a:lnTo>
                <a:close/>
              </a:path>
            </a:pathLst>
          </a:custGeom>
          <a:gradFill flip="none" rotWithShape="1">
            <a:gsLst>
              <a:gs pos="60000">
                <a:schemeClr val="accent3">
                  <a:alpha val="45000"/>
                </a:schemeClr>
              </a:gs>
              <a:gs pos="99000">
                <a:schemeClr val="accent5">
                  <a:alpha val="66721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7169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29968"/>
            <a:ext cx="9144000" cy="1069848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20" y="3803904"/>
            <a:ext cx="7068312" cy="758952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F1F20C20-DE23-6FE7-74A0-517218ACED7A}"/>
              </a:ext>
            </a:extLst>
          </p:cNvPr>
          <p:cNvSpPr/>
          <p:nvPr userDrawn="1"/>
        </p:nvSpPr>
        <p:spPr>
          <a:xfrm rot="10800000">
            <a:off x="-1" y="5019503"/>
            <a:ext cx="9676770" cy="18384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29177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 4">
            <a:extLst>
              <a:ext uri="{FF2B5EF4-FFF2-40B4-BE49-F238E27FC236}">
                <a16:creationId xmlns:a16="http://schemas.microsoft.com/office/drawing/2014/main" id="{98E2EA35-4179-2438-E1D1-02EFA8830FF9}"/>
              </a:ext>
            </a:extLst>
          </p:cNvPr>
          <p:cNvSpPr/>
          <p:nvPr userDrawn="1"/>
        </p:nvSpPr>
        <p:spPr>
          <a:xfrm flipV="1">
            <a:off x="2763044" y="6076116"/>
            <a:ext cx="3946673" cy="781884"/>
          </a:xfrm>
          <a:custGeom>
            <a:avLst/>
            <a:gdLst>
              <a:gd name="connsiteX0" fmla="*/ 1910385 w 3946673"/>
              <a:gd name="connsiteY0" fmla="*/ 781847 h 781884"/>
              <a:gd name="connsiteX1" fmla="*/ 3855031 w 3946673"/>
              <a:gd name="connsiteY1" fmla="*/ 44786 h 781884"/>
              <a:gd name="connsiteX2" fmla="*/ 3946673 w 3946673"/>
              <a:gd name="connsiteY2" fmla="*/ 0 h 781884"/>
              <a:gd name="connsiteX3" fmla="*/ 0 w 3946673"/>
              <a:gd name="connsiteY3" fmla="*/ 0 h 781884"/>
              <a:gd name="connsiteX4" fmla="*/ 54644 w 3946673"/>
              <a:gd name="connsiteY4" fmla="*/ 67939 h 781884"/>
              <a:gd name="connsiteX5" fmla="*/ 1910385 w 3946673"/>
              <a:gd name="connsiteY5" fmla="*/ 781847 h 78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46673" h="781884">
                <a:moveTo>
                  <a:pt x="1910385" y="781847"/>
                </a:moveTo>
                <a:cubicBezTo>
                  <a:pt x="2719463" y="777993"/>
                  <a:pt x="3240943" y="361686"/>
                  <a:pt x="3855031" y="44786"/>
                </a:cubicBezTo>
                <a:lnTo>
                  <a:pt x="3946673" y="0"/>
                </a:lnTo>
                <a:lnTo>
                  <a:pt x="0" y="0"/>
                </a:lnTo>
                <a:lnTo>
                  <a:pt x="54644" y="67939"/>
                </a:lnTo>
                <a:cubicBezTo>
                  <a:pt x="372182" y="426203"/>
                  <a:pt x="1020399" y="786086"/>
                  <a:pt x="1910385" y="781847"/>
                </a:cubicBezTo>
                <a:close/>
              </a:path>
            </a:pathLst>
          </a:custGeom>
          <a:gradFill>
            <a:gsLst>
              <a:gs pos="66000">
                <a:schemeClr val="accent4">
                  <a:lumMod val="75000"/>
                  <a:alpha val="46295"/>
                </a:schemeClr>
              </a:gs>
              <a:gs pos="33000">
                <a:schemeClr val="accent3">
                  <a:lumMod val="25000"/>
                  <a:alpha val="27934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A7C0B16B-87E9-E92C-62F3-D1844BEE5B2D}"/>
              </a:ext>
            </a:extLst>
          </p:cNvPr>
          <p:cNvSpPr/>
          <p:nvPr userDrawn="1"/>
        </p:nvSpPr>
        <p:spPr>
          <a:xfrm rot="10800000">
            <a:off x="5393054" y="6015979"/>
            <a:ext cx="4758726" cy="842020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51F4118C-3B46-F20B-EF12-E16F7513844C}"/>
              </a:ext>
            </a:extLst>
          </p:cNvPr>
          <p:cNvSpPr/>
          <p:nvPr userDrawn="1"/>
        </p:nvSpPr>
        <p:spPr>
          <a:xfrm rot="10800000" flipH="1">
            <a:off x="-2688" y="5263861"/>
            <a:ext cx="12192000" cy="1599109"/>
          </a:xfrm>
          <a:custGeom>
            <a:avLst/>
            <a:gdLst>
              <a:gd name="connsiteX0" fmla="*/ 1373073 w 12192000"/>
              <a:gd name="connsiteY0" fmla="*/ 1599066 h 1599109"/>
              <a:gd name="connsiteX1" fmla="*/ 4901233 w 12192000"/>
              <a:gd name="connsiteY1" fmla="*/ 313816 h 1599109"/>
              <a:gd name="connsiteX2" fmla="*/ 7629483 w 12192000"/>
              <a:gd name="connsiteY2" fmla="*/ 1209099 h 1599109"/>
              <a:gd name="connsiteX3" fmla="*/ 7664573 w 12192000"/>
              <a:gd name="connsiteY3" fmla="*/ 1222798 h 1599109"/>
              <a:gd name="connsiteX4" fmla="*/ 7753536 w 12192000"/>
              <a:gd name="connsiteY4" fmla="*/ 1277391 h 1599109"/>
              <a:gd name="connsiteX5" fmla="*/ 9091947 w 12192000"/>
              <a:gd name="connsiteY5" fmla="*/ 1582567 h 1599109"/>
              <a:gd name="connsiteX6" fmla="*/ 12094171 w 12192000"/>
              <a:gd name="connsiteY6" fmla="*/ 359476 h 1599109"/>
              <a:gd name="connsiteX7" fmla="*/ 12192000 w 12192000"/>
              <a:gd name="connsiteY7" fmla="*/ 342643 h 1599109"/>
              <a:gd name="connsiteX8" fmla="*/ 12192000 w 12192000"/>
              <a:gd name="connsiteY8" fmla="*/ 0 h 1599109"/>
              <a:gd name="connsiteX9" fmla="*/ 0 w 12192000"/>
              <a:gd name="connsiteY9" fmla="*/ 0 h 1599109"/>
              <a:gd name="connsiteX10" fmla="*/ 0 w 12192000"/>
              <a:gd name="connsiteY10" fmla="*/ 1274406 h 1599109"/>
              <a:gd name="connsiteX11" fmla="*/ 34662 w 12192000"/>
              <a:gd name="connsiteY11" fmla="*/ 1293889 h 1599109"/>
              <a:gd name="connsiteX12" fmla="*/ 1373073 w 12192000"/>
              <a:gd name="connsiteY12" fmla="*/ 1599066 h 1599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2000" h="1599109">
                <a:moveTo>
                  <a:pt x="1373073" y="1599066"/>
                </a:moveTo>
                <a:cubicBezTo>
                  <a:pt x="2786156" y="1591793"/>
                  <a:pt x="3395560" y="338997"/>
                  <a:pt x="4901233" y="313816"/>
                </a:cubicBezTo>
                <a:cubicBezTo>
                  <a:pt x="6312803" y="290208"/>
                  <a:pt x="7142906" y="993618"/>
                  <a:pt x="7629483" y="1209099"/>
                </a:cubicBezTo>
                <a:lnTo>
                  <a:pt x="7664573" y="1222798"/>
                </a:lnTo>
                <a:lnTo>
                  <a:pt x="7753536" y="1277391"/>
                </a:lnTo>
                <a:cubicBezTo>
                  <a:pt x="8110655" y="1460232"/>
                  <a:pt x="8562041" y="1585295"/>
                  <a:pt x="9091947" y="1582567"/>
                </a:cubicBezTo>
                <a:cubicBezTo>
                  <a:pt x="10328396" y="1576205"/>
                  <a:pt x="10949524" y="616237"/>
                  <a:pt x="12094171" y="359476"/>
                </a:cubicBezTo>
                <a:lnTo>
                  <a:pt x="12192000" y="342643"/>
                </a:lnTo>
                <a:lnTo>
                  <a:pt x="12192000" y="0"/>
                </a:lnTo>
                <a:lnTo>
                  <a:pt x="0" y="0"/>
                </a:lnTo>
                <a:lnTo>
                  <a:pt x="0" y="1274406"/>
                </a:lnTo>
                <a:lnTo>
                  <a:pt x="34662" y="1293889"/>
                </a:lnTo>
                <a:cubicBezTo>
                  <a:pt x="391780" y="1476730"/>
                  <a:pt x="843167" y="1601794"/>
                  <a:pt x="1373073" y="159906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alpha val="69328"/>
                </a:schemeClr>
              </a:gs>
              <a:gs pos="85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2753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hart or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4F769D-48D3-2655-40A4-674F657B74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294A09A9-5501-47C1-A89A-A340965A2BE2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FA0756-78EA-68DD-4650-F40EF5F252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Crypto: investing &amp; trading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534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6">
            <a:extLst>
              <a:ext uri="{FF2B5EF4-FFF2-40B4-BE49-F238E27FC236}">
                <a16:creationId xmlns:a16="http://schemas.microsoft.com/office/drawing/2014/main" id="{77AD3460-2264-3A46-993B-9F2AACED0504}"/>
              </a:ext>
            </a:extLst>
          </p:cNvPr>
          <p:cNvSpPr/>
          <p:nvPr userDrawn="1"/>
        </p:nvSpPr>
        <p:spPr>
          <a:xfrm rot="10800000">
            <a:off x="5393054" y="5650992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BBBF3E9C-CCEA-98FA-7F69-55AF07558021}"/>
              </a:ext>
            </a:extLst>
          </p:cNvPr>
          <p:cNvSpPr/>
          <p:nvPr userDrawn="1"/>
        </p:nvSpPr>
        <p:spPr>
          <a:xfrm flipH="1">
            <a:off x="-2" y="0"/>
            <a:ext cx="11262111" cy="21396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1149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 9">
            <a:extLst>
              <a:ext uri="{FF2B5EF4-FFF2-40B4-BE49-F238E27FC236}">
                <a16:creationId xmlns:a16="http://schemas.microsoft.com/office/drawing/2014/main" id="{4F937A84-95EC-EB44-470A-C82AD8E99897}"/>
              </a:ext>
            </a:extLst>
          </p:cNvPr>
          <p:cNvSpPr/>
          <p:nvPr userDrawn="1"/>
        </p:nvSpPr>
        <p:spPr>
          <a:xfrm>
            <a:off x="-24334" y="0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3916598 w 12218982"/>
              <a:gd name="connsiteY10" fmla="*/ 272807 h 6860673"/>
              <a:gd name="connsiteX11" fmla="*/ 3863345 w 12218982"/>
              <a:gd name="connsiteY11" fmla="*/ 286233 h 6860673"/>
              <a:gd name="connsiteX12" fmla="*/ 3729781 w 12218982"/>
              <a:gd name="connsiteY12" fmla="*/ 323286 h 6860673"/>
              <a:gd name="connsiteX13" fmla="*/ 1717096 w 12218982"/>
              <a:gd name="connsiteY13" fmla="*/ 1451719 h 6860673"/>
              <a:gd name="connsiteX14" fmla="*/ 708597 w 12218982"/>
              <a:gd name="connsiteY14" fmla="*/ 2695590 h 6860673"/>
              <a:gd name="connsiteX15" fmla="*/ 486880 w 12218982"/>
              <a:gd name="connsiteY15" fmla="*/ 3274865 h 6860673"/>
              <a:gd name="connsiteX16" fmla="*/ 365997 w 12218982"/>
              <a:gd name="connsiteY16" fmla="*/ 3984708 h 6860673"/>
              <a:gd name="connsiteX17" fmla="*/ 341340 w 12218982"/>
              <a:gd name="connsiteY17" fmla="*/ 4301231 h 6860673"/>
              <a:gd name="connsiteX18" fmla="*/ 341340 w 12218982"/>
              <a:gd name="connsiteY18" fmla="*/ 5007890 h 6860673"/>
              <a:gd name="connsiteX19" fmla="*/ 343276 w 12218982"/>
              <a:gd name="connsiteY19" fmla="*/ 5047516 h 6860673"/>
              <a:gd name="connsiteX20" fmla="*/ 814636 w 12218982"/>
              <a:gd name="connsiteY20" fmla="*/ 6666819 h 6860673"/>
              <a:gd name="connsiteX21" fmla="*/ 915601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4862080" y="106647"/>
                  <a:pt x="4363654" y="168899"/>
                  <a:pt x="3916598" y="272807"/>
                </a:cubicBezTo>
                <a:lnTo>
                  <a:pt x="3863345" y="286233"/>
                </a:lnTo>
                <a:lnTo>
                  <a:pt x="3729781" y="323286"/>
                </a:lnTo>
                <a:cubicBezTo>
                  <a:pt x="3036967" y="532141"/>
                  <a:pt x="2352843" y="836886"/>
                  <a:pt x="1717096" y="1451719"/>
                </a:cubicBezTo>
                <a:cubicBezTo>
                  <a:pt x="1293264" y="1861607"/>
                  <a:pt x="966036" y="2282242"/>
                  <a:pt x="708597" y="2695590"/>
                </a:cubicBezTo>
                <a:cubicBezTo>
                  <a:pt x="593502" y="2938109"/>
                  <a:pt x="544310" y="3015870"/>
                  <a:pt x="486880" y="3274865"/>
                </a:cubicBezTo>
                <a:cubicBezTo>
                  <a:pt x="434927" y="3498394"/>
                  <a:pt x="385149" y="3635910"/>
                  <a:pt x="365997" y="3984708"/>
                </a:cubicBezTo>
                <a:lnTo>
                  <a:pt x="341340" y="4301231"/>
                </a:lnTo>
                <a:lnTo>
                  <a:pt x="341340" y="5007890"/>
                </a:lnTo>
                <a:cubicBezTo>
                  <a:pt x="341985" y="5021099"/>
                  <a:pt x="342631" y="5034307"/>
                  <a:pt x="343276" y="5047516"/>
                </a:cubicBezTo>
                <a:cubicBezTo>
                  <a:pt x="393784" y="5666740"/>
                  <a:pt x="577442" y="6188267"/>
                  <a:pt x="814636" y="6666819"/>
                </a:cubicBezTo>
                <a:lnTo>
                  <a:pt x="915601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25000"/>
                  <a:alpha val="60164"/>
                </a:schemeClr>
              </a:gs>
              <a:gs pos="77000">
                <a:schemeClr val="accent3">
                  <a:lumMod val="25000"/>
                  <a:alpha val="29492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 10">
            <a:extLst>
              <a:ext uri="{FF2B5EF4-FFF2-40B4-BE49-F238E27FC236}">
                <a16:creationId xmlns:a16="http://schemas.microsoft.com/office/drawing/2014/main" id="{A9BF091C-5F88-B50F-03BB-284950253993}"/>
              </a:ext>
            </a:extLst>
          </p:cNvPr>
          <p:cNvSpPr/>
          <p:nvPr userDrawn="1"/>
        </p:nvSpPr>
        <p:spPr>
          <a:xfrm flipV="1">
            <a:off x="204060" y="5377862"/>
            <a:ext cx="7471211" cy="1480138"/>
          </a:xfrm>
          <a:custGeom>
            <a:avLst/>
            <a:gdLst>
              <a:gd name="connsiteX0" fmla="*/ 1910385 w 3946673"/>
              <a:gd name="connsiteY0" fmla="*/ 781847 h 781884"/>
              <a:gd name="connsiteX1" fmla="*/ 3855031 w 3946673"/>
              <a:gd name="connsiteY1" fmla="*/ 44786 h 781884"/>
              <a:gd name="connsiteX2" fmla="*/ 3946673 w 3946673"/>
              <a:gd name="connsiteY2" fmla="*/ 0 h 781884"/>
              <a:gd name="connsiteX3" fmla="*/ 0 w 3946673"/>
              <a:gd name="connsiteY3" fmla="*/ 0 h 781884"/>
              <a:gd name="connsiteX4" fmla="*/ 54644 w 3946673"/>
              <a:gd name="connsiteY4" fmla="*/ 67939 h 781884"/>
              <a:gd name="connsiteX5" fmla="*/ 1910385 w 3946673"/>
              <a:gd name="connsiteY5" fmla="*/ 781847 h 78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46673" h="781884">
                <a:moveTo>
                  <a:pt x="1910385" y="781847"/>
                </a:moveTo>
                <a:cubicBezTo>
                  <a:pt x="2719463" y="777993"/>
                  <a:pt x="3240943" y="361686"/>
                  <a:pt x="3855031" y="44786"/>
                </a:cubicBezTo>
                <a:lnTo>
                  <a:pt x="3946673" y="0"/>
                </a:lnTo>
                <a:lnTo>
                  <a:pt x="0" y="0"/>
                </a:lnTo>
                <a:lnTo>
                  <a:pt x="54644" y="67939"/>
                </a:lnTo>
                <a:cubicBezTo>
                  <a:pt x="372182" y="426203"/>
                  <a:pt x="1020399" y="786086"/>
                  <a:pt x="1910385" y="781847"/>
                </a:cubicBezTo>
                <a:close/>
              </a:path>
            </a:pathLst>
          </a:custGeom>
          <a:gradFill>
            <a:gsLst>
              <a:gs pos="66000">
                <a:schemeClr val="tx2">
                  <a:alpha val="8123"/>
                </a:schemeClr>
              </a:gs>
              <a:gs pos="33000">
                <a:schemeClr val="accent6">
                  <a:alpha val="13919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 16">
            <a:extLst>
              <a:ext uri="{FF2B5EF4-FFF2-40B4-BE49-F238E27FC236}">
                <a16:creationId xmlns:a16="http://schemas.microsoft.com/office/drawing/2014/main" id="{3FF8B459-35F5-072D-56FA-415EEABE6DC2}"/>
              </a:ext>
            </a:extLst>
          </p:cNvPr>
          <p:cNvSpPr/>
          <p:nvPr userDrawn="1"/>
        </p:nvSpPr>
        <p:spPr>
          <a:xfrm rot="10800000">
            <a:off x="-30287" y="4822578"/>
            <a:ext cx="12230888" cy="2040391"/>
          </a:xfrm>
          <a:custGeom>
            <a:avLst/>
            <a:gdLst>
              <a:gd name="connsiteX0" fmla="*/ 1751979 w 12230888"/>
              <a:gd name="connsiteY0" fmla="*/ 2040336 h 2040391"/>
              <a:gd name="connsiteX1" fmla="*/ 44227 w 12230888"/>
              <a:gd name="connsiteY1" fmla="*/ 1650944 h 2040391"/>
              <a:gd name="connsiteX2" fmla="*/ 0 w 12230888"/>
              <a:gd name="connsiteY2" fmla="*/ 1626084 h 2040391"/>
              <a:gd name="connsiteX3" fmla="*/ 0 w 12230888"/>
              <a:gd name="connsiteY3" fmla="*/ 0 h 2040391"/>
              <a:gd name="connsiteX4" fmla="*/ 12230888 w 12230888"/>
              <a:gd name="connsiteY4" fmla="*/ 0 h 2040391"/>
              <a:gd name="connsiteX5" fmla="*/ 12230888 w 12230888"/>
              <a:gd name="connsiteY5" fmla="*/ 1945571 h 2040391"/>
              <a:gd name="connsiteX6" fmla="*/ 12158569 w 12230888"/>
              <a:gd name="connsiteY6" fmla="*/ 1963333 h 2040391"/>
              <a:gd name="connsiteX7" fmla="*/ 11600914 w 12230888"/>
              <a:gd name="connsiteY7" fmla="*/ 2019284 h 2040391"/>
              <a:gd name="connsiteX8" fmla="*/ 9893162 w 12230888"/>
              <a:gd name="connsiteY8" fmla="*/ 1629893 h 2040391"/>
              <a:gd name="connsiteX9" fmla="*/ 9779649 w 12230888"/>
              <a:gd name="connsiteY9" fmla="*/ 1560235 h 2040391"/>
              <a:gd name="connsiteX10" fmla="*/ 9734876 w 12230888"/>
              <a:gd name="connsiteY10" fmla="*/ 1542756 h 2040391"/>
              <a:gd name="connsiteX11" fmla="*/ 6253752 w 12230888"/>
              <a:gd name="connsiteY11" fmla="*/ 400415 h 2040391"/>
              <a:gd name="connsiteX12" fmla="*/ 1751979 w 12230888"/>
              <a:gd name="connsiteY12" fmla="*/ 2040336 h 2040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230888" h="2040391">
                <a:moveTo>
                  <a:pt x="1751979" y="2040336"/>
                </a:moveTo>
                <a:cubicBezTo>
                  <a:pt x="1075843" y="2043817"/>
                  <a:pt x="499894" y="1884241"/>
                  <a:pt x="44227" y="1650944"/>
                </a:cubicBezTo>
                <a:lnTo>
                  <a:pt x="0" y="1626084"/>
                </a:lnTo>
                <a:lnTo>
                  <a:pt x="0" y="0"/>
                </a:lnTo>
                <a:lnTo>
                  <a:pt x="12230888" y="0"/>
                </a:lnTo>
                <a:lnTo>
                  <a:pt x="12230888" y="1945571"/>
                </a:lnTo>
                <a:lnTo>
                  <a:pt x="12158569" y="1963333"/>
                </a:lnTo>
                <a:cubicBezTo>
                  <a:pt x="11983060" y="1998243"/>
                  <a:pt x="11798121" y="2018269"/>
                  <a:pt x="11600914" y="2019284"/>
                </a:cubicBezTo>
                <a:cubicBezTo>
                  <a:pt x="10924778" y="2022765"/>
                  <a:pt x="10348830" y="1863190"/>
                  <a:pt x="9893162" y="1629893"/>
                </a:cubicBezTo>
                <a:lnTo>
                  <a:pt x="9779649" y="1560235"/>
                </a:lnTo>
                <a:lnTo>
                  <a:pt x="9734876" y="1542756"/>
                </a:lnTo>
                <a:cubicBezTo>
                  <a:pt x="9114026" y="1267812"/>
                  <a:pt x="8054852" y="370292"/>
                  <a:pt x="6253752" y="400415"/>
                </a:cubicBezTo>
                <a:cubicBezTo>
                  <a:pt x="4332581" y="432545"/>
                  <a:pt x="3555009" y="2031056"/>
                  <a:pt x="1751979" y="204033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alpha val="23907"/>
                </a:schemeClr>
              </a:gs>
              <a:gs pos="85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Freeform 17">
            <a:extLst>
              <a:ext uri="{FF2B5EF4-FFF2-40B4-BE49-F238E27FC236}">
                <a16:creationId xmlns:a16="http://schemas.microsoft.com/office/drawing/2014/main" id="{73867BC1-390E-647F-B33F-8622748E6530}"/>
              </a:ext>
            </a:extLst>
          </p:cNvPr>
          <p:cNvSpPr/>
          <p:nvPr userDrawn="1"/>
        </p:nvSpPr>
        <p:spPr>
          <a:xfrm>
            <a:off x="0" y="0"/>
            <a:ext cx="12192000" cy="2035422"/>
          </a:xfrm>
          <a:custGeom>
            <a:avLst/>
            <a:gdLst>
              <a:gd name="connsiteX0" fmla="*/ 0 w 12192000"/>
              <a:gd name="connsiteY0" fmla="*/ 0 h 2035422"/>
              <a:gd name="connsiteX1" fmla="*/ 12192000 w 12192000"/>
              <a:gd name="connsiteY1" fmla="*/ 0 h 2035422"/>
              <a:gd name="connsiteX2" fmla="*/ 12192000 w 12192000"/>
              <a:gd name="connsiteY2" fmla="*/ 1759689 h 2035422"/>
              <a:gd name="connsiteX3" fmla="*/ 12103306 w 12192000"/>
              <a:gd name="connsiteY3" fmla="*/ 1729773 h 2035422"/>
              <a:gd name="connsiteX4" fmla="*/ 11659615 w 12192000"/>
              <a:gd name="connsiteY4" fmla="*/ 1535038 h 2035422"/>
              <a:gd name="connsiteX5" fmla="*/ 11521247 w 12192000"/>
              <a:gd name="connsiteY5" fmla="*/ 1450127 h 2035422"/>
              <a:gd name="connsiteX6" fmla="*/ 11466670 w 12192000"/>
              <a:gd name="connsiteY6" fmla="*/ 1428821 h 2035422"/>
              <a:gd name="connsiteX7" fmla="*/ 7223297 w 12192000"/>
              <a:gd name="connsiteY7" fmla="*/ 36346 h 2035422"/>
              <a:gd name="connsiteX8" fmla="*/ 1735787 w 12192000"/>
              <a:gd name="connsiteY8" fmla="*/ 2035354 h 2035422"/>
              <a:gd name="connsiteX9" fmla="*/ 97785 w 12192000"/>
              <a:gd name="connsiteY9" fmla="*/ 1755433 h 2035422"/>
              <a:gd name="connsiteX10" fmla="*/ 0 w 12192000"/>
              <a:gd name="connsiteY10" fmla="*/ 1715854 h 2035422"/>
              <a:gd name="connsiteX11" fmla="*/ 0 w 12192000"/>
              <a:gd name="connsiteY11" fmla="*/ 0 h 2035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2035422">
                <a:moveTo>
                  <a:pt x="0" y="0"/>
                </a:moveTo>
                <a:lnTo>
                  <a:pt x="12192000" y="0"/>
                </a:lnTo>
                <a:lnTo>
                  <a:pt x="12192000" y="1759689"/>
                </a:lnTo>
                <a:lnTo>
                  <a:pt x="12103306" y="1729773"/>
                </a:lnTo>
                <a:cubicBezTo>
                  <a:pt x="11946501" y="1671612"/>
                  <a:pt x="11798476" y="1606133"/>
                  <a:pt x="11659615" y="1535038"/>
                </a:cubicBezTo>
                <a:lnTo>
                  <a:pt x="11521247" y="1450127"/>
                </a:lnTo>
                <a:lnTo>
                  <a:pt x="11466670" y="1428821"/>
                </a:lnTo>
                <a:cubicBezTo>
                  <a:pt x="10709874" y="1093673"/>
                  <a:pt x="9418777" y="-373"/>
                  <a:pt x="7223297" y="36346"/>
                </a:cubicBezTo>
                <a:cubicBezTo>
                  <a:pt x="4881454" y="75511"/>
                  <a:pt x="3933620" y="2024042"/>
                  <a:pt x="1735787" y="2035354"/>
                </a:cubicBezTo>
                <a:cubicBezTo>
                  <a:pt x="1117647" y="2038536"/>
                  <a:pt x="568201" y="1929916"/>
                  <a:pt x="97785" y="1755433"/>
                </a:cubicBezTo>
                <a:lnTo>
                  <a:pt x="0" y="1715854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25000"/>
                </a:schemeClr>
              </a:gs>
              <a:gs pos="99000">
                <a:schemeClr val="accent3">
                  <a:lumMod val="25000"/>
                </a:schemeClr>
              </a:gs>
              <a:gs pos="31000">
                <a:schemeClr val="accent6">
                  <a:alpha val="69328"/>
                </a:schemeClr>
              </a:gs>
              <a:gs pos="73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 18">
            <a:extLst>
              <a:ext uri="{FF2B5EF4-FFF2-40B4-BE49-F238E27FC236}">
                <a16:creationId xmlns:a16="http://schemas.microsoft.com/office/drawing/2014/main" id="{FA6C5756-59FF-66C3-2611-3D7AB2049ABE}"/>
              </a:ext>
            </a:extLst>
          </p:cNvPr>
          <p:cNvSpPr/>
          <p:nvPr userDrawn="1"/>
        </p:nvSpPr>
        <p:spPr>
          <a:xfrm flipH="1">
            <a:off x="-2" y="0"/>
            <a:ext cx="11262111" cy="21396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1149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19">
            <a:extLst>
              <a:ext uri="{FF2B5EF4-FFF2-40B4-BE49-F238E27FC236}">
                <a16:creationId xmlns:a16="http://schemas.microsoft.com/office/drawing/2014/main" id="{EF6D3160-DA6D-8CDA-3A13-8A43EC05449D}"/>
              </a:ext>
            </a:extLst>
          </p:cNvPr>
          <p:cNvSpPr/>
          <p:nvPr userDrawn="1"/>
        </p:nvSpPr>
        <p:spPr>
          <a:xfrm>
            <a:off x="0" y="7399"/>
            <a:ext cx="4758726" cy="842020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2752344"/>
            <a:ext cx="7763256" cy="1600200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32320" y="4233672"/>
            <a:ext cx="2843784" cy="448056"/>
          </a:xfrm>
        </p:spPr>
        <p:txBody>
          <a:bodyPr>
            <a:no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789227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100A0D9B-ADC5-C41B-130F-1EA1EDE9F2E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372600" y="3236976"/>
            <a:ext cx="2093976" cy="1856232"/>
          </a:xfrm>
          <a:custGeom>
            <a:avLst/>
            <a:gdLst>
              <a:gd name="connsiteX0" fmla="*/ 0 w 2093976"/>
              <a:gd name="connsiteY0" fmla="*/ 0 h 1856232"/>
              <a:gd name="connsiteX1" fmla="*/ 2093976 w 2093976"/>
              <a:gd name="connsiteY1" fmla="*/ 0 h 1856232"/>
              <a:gd name="connsiteX2" fmla="*/ 2093976 w 2093976"/>
              <a:gd name="connsiteY2" fmla="*/ 1695761 h 1856232"/>
              <a:gd name="connsiteX3" fmla="*/ 1933505 w 2093976"/>
              <a:gd name="connsiteY3" fmla="*/ 1856232 h 1856232"/>
              <a:gd name="connsiteX4" fmla="*/ 0 w 2093976"/>
              <a:gd name="connsiteY4" fmla="*/ 1856232 h 185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76" h="1856232">
                <a:moveTo>
                  <a:pt x="0" y="0"/>
                </a:moveTo>
                <a:lnTo>
                  <a:pt x="2093976" y="0"/>
                </a:lnTo>
                <a:lnTo>
                  <a:pt x="2093976" y="1695761"/>
                </a:lnTo>
                <a:cubicBezTo>
                  <a:pt x="2093976" y="1784387"/>
                  <a:pt x="2022131" y="1856232"/>
                  <a:pt x="1933505" y="1856232"/>
                </a:cubicBezTo>
                <a:lnTo>
                  <a:pt x="0" y="1856232"/>
                </a:ln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 lIns="256032" tIns="201168" rIns="27432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53694F-11E9-3CF0-DCDE-FC7C6FAF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5064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9AF8AEFF-3F3B-8AFC-621B-F653E2F1B74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7339" y="2478024"/>
            <a:ext cx="2098157" cy="702770"/>
          </a:xfrm>
          <a:custGeom>
            <a:avLst/>
            <a:gdLst>
              <a:gd name="connsiteX0" fmla="*/ 169182 w 2098157"/>
              <a:gd name="connsiteY0" fmla="*/ 0 h 702770"/>
              <a:gd name="connsiteX1" fmla="*/ 2098157 w 2098157"/>
              <a:gd name="connsiteY1" fmla="*/ 0 h 702770"/>
              <a:gd name="connsiteX2" fmla="*/ 2098157 w 2098157"/>
              <a:gd name="connsiteY2" fmla="*/ 702770 h 702770"/>
              <a:gd name="connsiteX3" fmla="*/ 2097025 w 2098157"/>
              <a:gd name="connsiteY3" fmla="*/ 702770 h 702770"/>
              <a:gd name="connsiteX4" fmla="*/ 503974 w 2098157"/>
              <a:gd name="connsiteY4" fmla="*/ 702770 h 702770"/>
              <a:gd name="connsiteX5" fmla="*/ 0 w 2098157"/>
              <a:gd name="connsiteY5" fmla="*/ 702770 h 702770"/>
              <a:gd name="connsiteX6" fmla="*/ 0 w 2098157"/>
              <a:gd name="connsiteY6" fmla="*/ 202766 h 702770"/>
              <a:gd name="connsiteX7" fmla="*/ 136581 w 2098157"/>
              <a:gd name="connsiteY7" fmla="*/ 3900 h 702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8157" h="702770">
                <a:moveTo>
                  <a:pt x="169182" y="0"/>
                </a:moveTo>
                <a:lnTo>
                  <a:pt x="2098157" y="0"/>
                </a:lnTo>
                <a:lnTo>
                  <a:pt x="2098157" y="702770"/>
                </a:lnTo>
                <a:lnTo>
                  <a:pt x="2097025" y="702770"/>
                </a:lnTo>
                <a:lnTo>
                  <a:pt x="503974" y="702770"/>
                </a:lnTo>
                <a:lnTo>
                  <a:pt x="0" y="702770"/>
                </a:lnTo>
                <a:lnTo>
                  <a:pt x="0" y="202766"/>
                </a:lnTo>
                <a:cubicBezTo>
                  <a:pt x="0" y="104671"/>
                  <a:pt x="58634" y="22828"/>
                  <a:pt x="136581" y="3900"/>
                </a:cubicBezTo>
                <a:close/>
              </a:path>
            </a:pathLst>
          </a:custGeom>
          <a:solidFill>
            <a:schemeClr val="accent6"/>
          </a:solidFill>
          <a:ln w="12700">
            <a:solidFill>
              <a:schemeClr val="accent6"/>
            </a:solidFill>
          </a:ln>
        </p:spPr>
        <p:txBody>
          <a:bodyPr wrap="square" lIns="91440" tIns="45720" rIns="9144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C0111168-089D-E125-6CBB-0B288CE8D5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520" y="3236976"/>
            <a:ext cx="2093976" cy="1856232"/>
          </a:xfrm>
          <a:custGeom>
            <a:avLst/>
            <a:gdLst>
              <a:gd name="connsiteX0" fmla="*/ 0 w 2093976"/>
              <a:gd name="connsiteY0" fmla="*/ 0 h 1856232"/>
              <a:gd name="connsiteX1" fmla="*/ 2093976 w 2093976"/>
              <a:gd name="connsiteY1" fmla="*/ 0 h 1856232"/>
              <a:gd name="connsiteX2" fmla="*/ 2093976 w 2093976"/>
              <a:gd name="connsiteY2" fmla="*/ 1856232 h 1856232"/>
              <a:gd name="connsiteX3" fmla="*/ 160471 w 2093976"/>
              <a:gd name="connsiteY3" fmla="*/ 1856232 h 1856232"/>
              <a:gd name="connsiteX4" fmla="*/ 0 w 2093976"/>
              <a:gd name="connsiteY4" fmla="*/ 1695761 h 185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76" h="1856232">
                <a:moveTo>
                  <a:pt x="0" y="0"/>
                </a:moveTo>
                <a:lnTo>
                  <a:pt x="2093976" y="0"/>
                </a:lnTo>
                <a:lnTo>
                  <a:pt x="2093976" y="1856232"/>
                </a:lnTo>
                <a:lnTo>
                  <a:pt x="160471" y="1856232"/>
                </a:lnTo>
                <a:cubicBezTo>
                  <a:pt x="71845" y="1856232"/>
                  <a:pt x="0" y="1784387"/>
                  <a:pt x="0" y="1695761"/>
                </a:cubicBez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 lIns="256032" tIns="201168" rIns="27432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0FBF32C-8DDB-F094-1C74-FDE91B64F9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84932" y="2478024"/>
            <a:ext cx="2103120" cy="704088"/>
          </a:xfr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C5237567-8AEF-3966-7CED-5DA3ACD21E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9179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137587B-C03C-671F-AED7-4B974605AF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47488" y="2478024"/>
            <a:ext cx="2103120" cy="704088"/>
          </a:xfr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25D4A96A-10D9-D4AD-C775-61041F026B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5206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81308FE1-98CC-9FD0-5CF1-5A8E61C5BA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10044" y="2478024"/>
            <a:ext cx="2103120" cy="704088"/>
          </a:xfr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B6FB197B-711E-A949-62E5-216CBC83FFB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1233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76A5CBAC-0099-3E8F-E44D-7B999D70796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372600" y="2478025"/>
            <a:ext cx="2098157" cy="702769"/>
          </a:xfrm>
          <a:custGeom>
            <a:avLst/>
            <a:gdLst>
              <a:gd name="connsiteX0" fmla="*/ 0 w 2098157"/>
              <a:gd name="connsiteY0" fmla="*/ 0 h 702769"/>
              <a:gd name="connsiteX1" fmla="*/ 1928984 w 2098157"/>
              <a:gd name="connsiteY1" fmla="*/ 0 h 702769"/>
              <a:gd name="connsiteX2" fmla="*/ 1961576 w 2098157"/>
              <a:gd name="connsiteY2" fmla="*/ 3899 h 702769"/>
              <a:gd name="connsiteX3" fmla="*/ 2098157 w 2098157"/>
              <a:gd name="connsiteY3" fmla="*/ 202765 h 702769"/>
              <a:gd name="connsiteX4" fmla="*/ 2098157 w 2098157"/>
              <a:gd name="connsiteY4" fmla="*/ 702769 h 702769"/>
              <a:gd name="connsiteX5" fmla="*/ 1594183 w 2098157"/>
              <a:gd name="connsiteY5" fmla="*/ 702769 h 702769"/>
              <a:gd name="connsiteX6" fmla="*/ 1132 w 2098157"/>
              <a:gd name="connsiteY6" fmla="*/ 702769 h 702769"/>
              <a:gd name="connsiteX7" fmla="*/ 0 w 2098157"/>
              <a:gd name="connsiteY7" fmla="*/ 702769 h 702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8157" h="702769">
                <a:moveTo>
                  <a:pt x="0" y="0"/>
                </a:moveTo>
                <a:lnTo>
                  <a:pt x="1928984" y="0"/>
                </a:lnTo>
                <a:lnTo>
                  <a:pt x="1961576" y="3899"/>
                </a:lnTo>
                <a:cubicBezTo>
                  <a:pt x="2039523" y="22827"/>
                  <a:pt x="2098157" y="104670"/>
                  <a:pt x="2098157" y="202765"/>
                </a:cubicBezTo>
                <a:lnTo>
                  <a:pt x="2098157" y="702769"/>
                </a:lnTo>
                <a:lnTo>
                  <a:pt x="1594183" y="702769"/>
                </a:lnTo>
                <a:lnTo>
                  <a:pt x="1132" y="702769"/>
                </a:lnTo>
                <a:lnTo>
                  <a:pt x="0" y="702769"/>
                </a:lnTo>
                <a:close/>
              </a:path>
            </a:pathLst>
          </a:cu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91440" tIns="45720" rIns="9144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6900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3694F-11E9-3CF0-DCDE-FC7C6FAF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24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652500-B558-F785-439F-12315F43312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A96B1-64D5-11B6-BD02-AD31F3172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‹Nr.›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C883D99-31C6-D5A2-D86A-FC9440CEA769}"/>
              </a:ext>
            </a:extLst>
          </p:cNvPr>
          <p:cNvCxnSpPr>
            <a:cxnSpLocks/>
          </p:cNvCxnSpPr>
          <p:nvPr userDrawn="1"/>
        </p:nvCxnSpPr>
        <p:spPr>
          <a:xfrm>
            <a:off x="1944007" y="3324115"/>
            <a:ext cx="2170451" cy="0"/>
          </a:xfrm>
          <a:prstGeom prst="line">
            <a:avLst/>
          </a:prstGeom>
          <a:ln w="12700">
            <a:solidFill>
              <a:schemeClr val="accent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38AB5A6-6184-8A00-738A-9F575C1472CC}"/>
              </a:ext>
            </a:extLst>
          </p:cNvPr>
          <p:cNvCxnSpPr>
            <a:cxnSpLocks/>
          </p:cNvCxnSpPr>
          <p:nvPr userDrawn="1"/>
        </p:nvCxnSpPr>
        <p:spPr>
          <a:xfrm>
            <a:off x="4114458" y="3322646"/>
            <a:ext cx="2171700" cy="0"/>
          </a:xfrm>
          <a:prstGeom prst="line">
            <a:avLst/>
          </a:prstGeom>
          <a:ln w="12700">
            <a:solidFill>
              <a:schemeClr val="accent5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BFB726-8911-1D40-8CAD-0678A3988661}"/>
              </a:ext>
            </a:extLst>
          </p:cNvPr>
          <p:cNvCxnSpPr>
            <a:cxnSpLocks/>
          </p:cNvCxnSpPr>
          <p:nvPr userDrawn="1"/>
        </p:nvCxnSpPr>
        <p:spPr>
          <a:xfrm>
            <a:off x="6286158" y="3322646"/>
            <a:ext cx="2161515" cy="14408"/>
          </a:xfrm>
          <a:prstGeom prst="line">
            <a:avLst/>
          </a:prstGeom>
          <a:ln w="12700">
            <a:solidFill>
              <a:schemeClr val="accent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A06BA5D-5C40-149B-0AE7-118CF43109F3}"/>
              </a:ext>
            </a:extLst>
          </p:cNvPr>
          <p:cNvCxnSpPr>
            <a:cxnSpLocks/>
          </p:cNvCxnSpPr>
          <p:nvPr userDrawn="1"/>
        </p:nvCxnSpPr>
        <p:spPr>
          <a:xfrm>
            <a:off x="8447673" y="3333307"/>
            <a:ext cx="2189197" cy="0"/>
          </a:xfrm>
          <a:prstGeom prst="line">
            <a:avLst/>
          </a:prstGeom>
          <a:ln w="12700">
            <a:solidFill>
              <a:schemeClr val="accent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0E1F9F84-FEDF-EE4B-151E-0BA753B313F2}"/>
              </a:ext>
            </a:extLst>
          </p:cNvPr>
          <p:cNvSpPr/>
          <p:nvPr userDrawn="1"/>
        </p:nvSpPr>
        <p:spPr>
          <a:xfrm>
            <a:off x="1349145" y="2715964"/>
            <a:ext cx="1218817" cy="12188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5D1979A-4075-FDBC-DC21-B473A894753D}"/>
              </a:ext>
            </a:extLst>
          </p:cNvPr>
          <p:cNvSpPr/>
          <p:nvPr userDrawn="1"/>
        </p:nvSpPr>
        <p:spPr>
          <a:xfrm>
            <a:off x="3525168" y="2721004"/>
            <a:ext cx="1218817" cy="121881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253DC90-8B68-11F4-262C-EF788CC251ED}"/>
              </a:ext>
            </a:extLst>
          </p:cNvPr>
          <p:cNvSpPr/>
          <p:nvPr userDrawn="1"/>
        </p:nvSpPr>
        <p:spPr>
          <a:xfrm>
            <a:off x="5704017" y="2716977"/>
            <a:ext cx="1218817" cy="121881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CEBAA34-A280-D694-891B-142A8D7FA33C}"/>
              </a:ext>
            </a:extLst>
          </p:cNvPr>
          <p:cNvSpPr/>
          <p:nvPr userDrawn="1"/>
        </p:nvSpPr>
        <p:spPr>
          <a:xfrm>
            <a:off x="7847695" y="2726015"/>
            <a:ext cx="1218817" cy="121881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EC576C9-CAB6-8D5D-5976-B4CC1FB6B5C0}"/>
              </a:ext>
            </a:extLst>
          </p:cNvPr>
          <p:cNvSpPr/>
          <p:nvPr userDrawn="1"/>
        </p:nvSpPr>
        <p:spPr>
          <a:xfrm>
            <a:off x="10049319" y="2718520"/>
            <a:ext cx="1218817" cy="12188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B3AAAB5-1B7C-5567-E7F2-E97DCAFEA821}"/>
              </a:ext>
            </a:extLst>
          </p:cNvPr>
          <p:cNvSpPr/>
          <p:nvPr userDrawn="1"/>
        </p:nvSpPr>
        <p:spPr>
          <a:xfrm flipH="1">
            <a:off x="1418423" y="2786515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6E861CF-DCF3-E6B9-1438-583DC69FFA06}"/>
              </a:ext>
            </a:extLst>
          </p:cNvPr>
          <p:cNvSpPr/>
          <p:nvPr userDrawn="1"/>
        </p:nvSpPr>
        <p:spPr>
          <a:xfrm flipH="1">
            <a:off x="3593035" y="2791555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F4D24E5-CE49-C81C-1933-88384A77E742}"/>
              </a:ext>
            </a:extLst>
          </p:cNvPr>
          <p:cNvSpPr/>
          <p:nvPr userDrawn="1"/>
        </p:nvSpPr>
        <p:spPr>
          <a:xfrm flipH="1">
            <a:off x="5771884" y="2787528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F1CA68B-CB89-15A1-13F9-3DD65297D0BD}"/>
              </a:ext>
            </a:extLst>
          </p:cNvPr>
          <p:cNvSpPr/>
          <p:nvPr userDrawn="1"/>
        </p:nvSpPr>
        <p:spPr>
          <a:xfrm flipH="1">
            <a:off x="7915562" y="2796566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AD773FD-C1E4-FDB0-FDF1-0925375BE2A5}"/>
              </a:ext>
            </a:extLst>
          </p:cNvPr>
          <p:cNvSpPr/>
          <p:nvPr userDrawn="1"/>
        </p:nvSpPr>
        <p:spPr>
          <a:xfrm flipH="1">
            <a:off x="10129886" y="2789071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ACA633AF-3209-BF0D-1450-6A91ACC8533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8074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F70EFB68-D184-8E31-A027-F291D78776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8074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0FBF32C-8DDB-F094-1C74-FDE91B64F9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38728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C5237567-8AEF-3966-7CED-5DA3ACD21E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38728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137587B-C03C-671F-AED7-4B974605AF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2414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25D4A96A-10D9-D4AD-C775-61041F026B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72414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81308FE1-98CC-9FD0-5CF1-5A8E61C5BA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7298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B6FB197B-711E-A949-62E5-216CBC83FFB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87298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BC5472B4-CBBF-AC70-5BA8-A0661E663D4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0058400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C3CEEBDA-7860-91AD-704A-7A540E1E58F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0058400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F918527-798D-3B40-E0EA-38C0AEBA6D7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648147" y="3018954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1" name="Picture Placeholder 29">
            <a:extLst>
              <a:ext uri="{FF2B5EF4-FFF2-40B4-BE49-F238E27FC236}">
                <a16:creationId xmlns:a16="http://schemas.microsoft.com/office/drawing/2014/main" id="{B0D40292-F2DF-0641-6B78-370AC5C5009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805117" y="3011109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2" name="Picture Placeholder 29">
            <a:extLst>
              <a:ext uri="{FF2B5EF4-FFF2-40B4-BE49-F238E27FC236}">
                <a16:creationId xmlns:a16="http://schemas.microsoft.com/office/drawing/2014/main" id="{503DD6AB-C9B3-EBD7-080A-FB219B38122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995989" y="3026158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3" name="Picture Placeholder 29">
            <a:extLst>
              <a:ext uri="{FF2B5EF4-FFF2-40B4-BE49-F238E27FC236}">
                <a16:creationId xmlns:a16="http://schemas.microsoft.com/office/drawing/2014/main" id="{E61A9741-3B1C-111D-B260-CF7E7F223F8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146207" y="3011109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4" name="Picture Placeholder 29">
            <a:extLst>
              <a:ext uri="{FF2B5EF4-FFF2-40B4-BE49-F238E27FC236}">
                <a16:creationId xmlns:a16="http://schemas.microsoft.com/office/drawing/2014/main" id="{E49C1AE1-BC78-2CE3-D292-61496AC727D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347831" y="3017032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3B71C9DC-B9E5-6C34-B451-BA2224CCDD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350008" y="4279392"/>
            <a:ext cx="146304" cy="146304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0596D87F-0114-685D-7F97-873DBA55794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517136" y="4279392"/>
            <a:ext cx="146304" cy="146304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5D4E3F00-5755-F2EF-97C8-0FE775CAE04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702552" y="4279392"/>
            <a:ext cx="146304" cy="146304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29543A01-39BF-D362-26F8-BD1E7D0D3C8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842248" y="4279392"/>
            <a:ext cx="146304" cy="146304"/>
          </a:xfrm>
          <a:prstGeom prst="ellipse">
            <a:avLst/>
          </a:prstGeom>
          <a:solidFill>
            <a:schemeClr val="accent2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BB6B72CD-75B9-D90F-4767-2141AEF3B20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1055096" y="4279392"/>
            <a:ext cx="146304" cy="146304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0831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>
            <a:extLst>
              <a:ext uri="{FF2B5EF4-FFF2-40B4-BE49-F238E27FC236}">
                <a16:creationId xmlns:a16="http://schemas.microsoft.com/office/drawing/2014/main" id="{89A27E14-C943-C294-334B-4D6A7500F3B5}"/>
              </a:ext>
            </a:extLst>
          </p:cNvPr>
          <p:cNvSpPr/>
          <p:nvPr userDrawn="1"/>
        </p:nvSpPr>
        <p:spPr>
          <a:xfrm rot="5400000">
            <a:off x="7383937" y="2039848"/>
            <a:ext cx="6858000" cy="2778304"/>
          </a:xfrm>
          <a:custGeom>
            <a:avLst/>
            <a:gdLst>
              <a:gd name="connsiteX0" fmla="*/ 0 w 6858000"/>
              <a:gd name="connsiteY0" fmla="*/ 1050199 h 2778304"/>
              <a:gd name="connsiteX1" fmla="*/ 0 w 6858000"/>
              <a:gd name="connsiteY1" fmla="*/ 0 h 2778304"/>
              <a:gd name="connsiteX2" fmla="*/ 6858000 w 6858000"/>
              <a:gd name="connsiteY2" fmla="*/ 0 h 2778304"/>
              <a:gd name="connsiteX3" fmla="*/ 6858000 w 6858000"/>
              <a:gd name="connsiteY3" fmla="*/ 1193215 h 2778304"/>
              <a:gd name="connsiteX4" fmla="*/ 6790588 w 6858000"/>
              <a:gd name="connsiteY4" fmla="*/ 1211701 h 2778304"/>
              <a:gd name="connsiteX5" fmla="*/ 3050431 w 6858000"/>
              <a:gd name="connsiteY5" fmla="*/ 2778245 h 2778304"/>
              <a:gd name="connsiteX6" fmla="*/ 37813 w 6858000"/>
              <a:gd name="connsiteY6" fmla="*/ 1183549 h 2778304"/>
              <a:gd name="connsiteX7" fmla="*/ 0 w 6858000"/>
              <a:gd name="connsiteY7" fmla="*/ 1050199 h 2778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2778304">
                <a:moveTo>
                  <a:pt x="0" y="1050199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1193215"/>
                </a:lnTo>
                <a:lnTo>
                  <a:pt x="6790588" y="1211701"/>
                </a:lnTo>
                <a:cubicBezTo>
                  <a:pt x="5439260" y="1649845"/>
                  <a:pt x="4603740" y="2770251"/>
                  <a:pt x="3050431" y="2778245"/>
                </a:cubicBezTo>
                <a:cubicBezTo>
                  <a:pt x="1377637" y="2786855"/>
                  <a:pt x="283199" y="1854180"/>
                  <a:pt x="37813" y="1183549"/>
                </a:cubicBezTo>
                <a:lnTo>
                  <a:pt x="0" y="1050199"/>
                </a:lnTo>
                <a:close/>
              </a:path>
            </a:pathLst>
          </a:custGeom>
          <a:gradFill flip="none" rotWithShape="1">
            <a:gsLst>
              <a:gs pos="26000">
                <a:schemeClr val="accent3">
                  <a:lumMod val="25000"/>
                </a:schemeClr>
              </a:gs>
              <a:gs pos="73000">
                <a:schemeClr val="accent1">
                  <a:alpha val="33146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BE5C5BCA-F960-4024-7215-2D2EFD0FEBF3}"/>
              </a:ext>
            </a:extLst>
          </p:cNvPr>
          <p:cNvSpPr/>
          <p:nvPr userDrawn="1"/>
        </p:nvSpPr>
        <p:spPr>
          <a:xfrm rot="16200000" flipV="1">
            <a:off x="7907199" y="2573198"/>
            <a:ext cx="6858000" cy="1711602"/>
          </a:xfrm>
          <a:custGeom>
            <a:avLst/>
            <a:gdLst>
              <a:gd name="connsiteX0" fmla="*/ 6858000 w 6858000"/>
              <a:gd name="connsiteY0" fmla="*/ 1010661 h 1711602"/>
              <a:gd name="connsiteX1" fmla="*/ 6858000 w 6858000"/>
              <a:gd name="connsiteY1" fmla="*/ 0 h 1711602"/>
              <a:gd name="connsiteX2" fmla="*/ 0 w 6858000"/>
              <a:gd name="connsiteY2" fmla="*/ 0 h 1711602"/>
              <a:gd name="connsiteX3" fmla="*/ 0 w 6858000"/>
              <a:gd name="connsiteY3" fmla="*/ 983884 h 1711602"/>
              <a:gd name="connsiteX4" fmla="*/ 11078 w 6858000"/>
              <a:gd name="connsiteY4" fmla="*/ 997657 h 1711602"/>
              <a:gd name="connsiteX5" fmla="*/ 1866819 w 6858000"/>
              <a:gd name="connsiteY5" fmla="*/ 1711565 h 1711602"/>
              <a:gd name="connsiteX6" fmla="*/ 5098965 w 6858000"/>
              <a:gd name="connsiteY6" fmla="*/ 622006 h 1711602"/>
              <a:gd name="connsiteX7" fmla="*/ 6746500 w 6858000"/>
              <a:gd name="connsiteY7" fmla="*/ 959665 h 1711602"/>
              <a:gd name="connsiteX8" fmla="*/ 6858000 w 6858000"/>
              <a:gd name="connsiteY8" fmla="*/ 1010661 h 1711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1711602">
                <a:moveTo>
                  <a:pt x="6858000" y="1010661"/>
                </a:moveTo>
                <a:lnTo>
                  <a:pt x="6858000" y="0"/>
                </a:lnTo>
                <a:lnTo>
                  <a:pt x="0" y="0"/>
                </a:lnTo>
                <a:lnTo>
                  <a:pt x="0" y="983884"/>
                </a:lnTo>
                <a:lnTo>
                  <a:pt x="11078" y="997657"/>
                </a:lnTo>
                <a:cubicBezTo>
                  <a:pt x="328616" y="1355920"/>
                  <a:pt x="976833" y="1715803"/>
                  <a:pt x="1866819" y="1711565"/>
                </a:cubicBezTo>
                <a:cubicBezTo>
                  <a:pt x="3161344" y="1705400"/>
                  <a:pt x="3719617" y="643352"/>
                  <a:pt x="5098965" y="622006"/>
                </a:cubicBezTo>
                <a:cubicBezTo>
                  <a:pt x="5788640" y="611332"/>
                  <a:pt x="6326795" y="775968"/>
                  <a:pt x="6746500" y="959665"/>
                </a:cubicBezTo>
                <a:lnTo>
                  <a:pt x="6858000" y="1010661"/>
                </a:lnTo>
                <a:close/>
              </a:path>
            </a:pathLst>
          </a:custGeom>
          <a:gradFill>
            <a:gsLst>
              <a:gs pos="79000">
                <a:schemeClr val="accent4">
                  <a:lumMod val="75000"/>
                  <a:alpha val="79763"/>
                </a:schemeClr>
              </a:gs>
              <a:gs pos="37000">
                <a:schemeClr val="accent3">
                  <a:lumMod val="25000"/>
                  <a:alpha val="27934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6F62D03F-D065-13FE-5D30-58C2523BD14D}"/>
              </a:ext>
            </a:extLst>
          </p:cNvPr>
          <p:cNvSpPr/>
          <p:nvPr userDrawn="1"/>
        </p:nvSpPr>
        <p:spPr>
          <a:xfrm rot="5400000">
            <a:off x="7877130" y="2543131"/>
            <a:ext cx="6858001" cy="1771739"/>
          </a:xfrm>
          <a:custGeom>
            <a:avLst/>
            <a:gdLst>
              <a:gd name="connsiteX0" fmla="*/ 0 w 6858001"/>
              <a:gd name="connsiteY0" fmla="*/ 1273784 h 1771739"/>
              <a:gd name="connsiteX1" fmla="*/ 0 w 6858001"/>
              <a:gd name="connsiteY1" fmla="*/ 0 h 1771739"/>
              <a:gd name="connsiteX2" fmla="*/ 6858001 w 6858001"/>
              <a:gd name="connsiteY2" fmla="*/ 0 h 1771739"/>
              <a:gd name="connsiteX3" fmla="*/ 6858001 w 6858001"/>
              <a:gd name="connsiteY3" fmla="*/ 34923 h 1771739"/>
              <a:gd name="connsiteX4" fmla="*/ 6735259 w 6858001"/>
              <a:gd name="connsiteY4" fmla="*/ 32862 h 1771739"/>
              <a:gd name="connsiteX5" fmla="*/ 1961998 w 6858001"/>
              <a:gd name="connsiteY5" fmla="*/ 1771680 h 1771739"/>
              <a:gd name="connsiteX6" fmla="*/ 151257 w 6858001"/>
              <a:gd name="connsiteY6" fmla="*/ 1358806 h 1771739"/>
              <a:gd name="connsiteX7" fmla="*/ 0 w 6858001"/>
              <a:gd name="connsiteY7" fmla="*/ 1273784 h 1771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1" h="1771739">
                <a:moveTo>
                  <a:pt x="0" y="1273784"/>
                </a:moveTo>
                <a:lnTo>
                  <a:pt x="0" y="0"/>
                </a:lnTo>
                <a:lnTo>
                  <a:pt x="6858001" y="0"/>
                </a:lnTo>
                <a:lnTo>
                  <a:pt x="6858001" y="34923"/>
                </a:lnTo>
                <a:lnTo>
                  <a:pt x="6735259" y="32862"/>
                </a:lnTo>
                <a:cubicBezTo>
                  <a:pt x="4698226" y="66929"/>
                  <a:pt x="3873763" y="1761840"/>
                  <a:pt x="1961998" y="1771680"/>
                </a:cubicBezTo>
                <a:cubicBezTo>
                  <a:pt x="1245087" y="1775370"/>
                  <a:pt x="634403" y="1606171"/>
                  <a:pt x="151257" y="1358806"/>
                </a:cubicBezTo>
                <a:lnTo>
                  <a:pt x="0" y="1273784"/>
                </a:lnTo>
                <a:close/>
              </a:path>
            </a:pathLst>
          </a:custGeom>
          <a:gradFill>
            <a:gsLst>
              <a:gs pos="32000">
                <a:schemeClr val="tx2">
                  <a:alpha val="48229"/>
                </a:schemeClr>
              </a:gs>
              <a:gs pos="100000">
                <a:schemeClr val="accent6">
                  <a:alpha val="4858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36" y="822960"/>
            <a:ext cx="8878824" cy="1069848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6192" y="2185416"/>
            <a:ext cx="3621024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36192" y="2743200"/>
            <a:ext cx="3621024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41264" y="2185416"/>
            <a:ext cx="3621024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41264" y="2743200"/>
            <a:ext cx="3621024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460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4226C42-B02E-1D4B-77B4-BF0257C6041E}"/>
              </a:ext>
            </a:extLst>
          </p:cNvPr>
          <p:cNvSpPr/>
          <p:nvPr userDrawn="1"/>
        </p:nvSpPr>
        <p:spPr>
          <a:xfrm>
            <a:off x="19485" y="0"/>
            <a:ext cx="6721146" cy="6858000"/>
          </a:xfrm>
          <a:custGeom>
            <a:avLst/>
            <a:gdLst>
              <a:gd name="connsiteX0" fmla="*/ 0 w 6721146"/>
              <a:gd name="connsiteY0" fmla="*/ 0 h 6858000"/>
              <a:gd name="connsiteX1" fmla="*/ 399503 w 6721146"/>
              <a:gd name="connsiteY1" fmla="*/ 0 h 6858000"/>
              <a:gd name="connsiteX2" fmla="*/ 395119 w 6721146"/>
              <a:gd name="connsiteY2" fmla="*/ 19864 h 6858000"/>
              <a:gd name="connsiteX3" fmla="*/ 244176 w 6721146"/>
              <a:gd name="connsiteY3" fmla="*/ 529296 h 6858000"/>
              <a:gd name="connsiteX4" fmla="*/ 993095 w 6721146"/>
              <a:gd name="connsiteY4" fmla="*/ 5197987 h 6858000"/>
              <a:gd name="connsiteX5" fmla="*/ 4989455 w 6721146"/>
              <a:gd name="connsiteY5" fmla="*/ 6468602 h 6858000"/>
              <a:gd name="connsiteX6" fmla="*/ 6648701 w 6721146"/>
              <a:gd name="connsiteY6" fmla="*/ 6787937 h 6858000"/>
              <a:gd name="connsiteX7" fmla="*/ 6721146 w 6721146"/>
              <a:gd name="connsiteY7" fmla="*/ 6858000 h 6858000"/>
              <a:gd name="connsiteX8" fmla="*/ 0 w 6721146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21146" h="6858000">
                <a:moveTo>
                  <a:pt x="0" y="0"/>
                </a:moveTo>
                <a:lnTo>
                  <a:pt x="399503" y="0"/>
                </a:lnTo>
                <a:lnTo>
                  <a:pt x="395119" y="19864"/>
                </a:lnTo>
                <a:cubicBezTo>
                  <a:pt x="355531" y="180505"/>
                  <a:pt x="305509" y="350292"/>
                  <a:pt x="244176" y="529296"/>
                </a:cubicBezTo>
                <a:cubicBezTo>
                  <a:pt x="-223599" y="2697668"/>
                  <a:pt x="276778" y="4254046"/>
                  <a:pt x="993095" y="5197987"/>
                </a:cubicBezTo>
                <a:cubicBezTo>
                  <a:pt x="1709415" y="6141924"/>
                  <a:pt x="3704883" y="6653220"/>
                  <a:pt x="4989455" y="6468602"/>
                </a:cubicBezTo>
                <a:cubicBezTo>
                  <a:pt x="5774573" y="6353740"/>
                  <a:pt x="6315041" y="6502080"/>
                  <a:pt x="6648701" y="6787937"/>
                </a:cubicBezTo>
                <a:lnTo>
                  <a:pt x="6721146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73000">
                <a:schemeClr val="accent3">
                  <a:lumMod val="25000"/>
                </a:schemeClr>
              </a:gs>
              <a:gs pos="0">
                <a:schemeClr val="accent1">
                  <a:alpha val="2964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60C6EA0-9137-97A8-7C78-0FCD8675F1B0}"/>
              </a:ext>
            </a:extLst>
          </p:cNvPr>
          <p:cNvSpPr/>
          <p:nvPr userDrawn="1"/>
        </p:nvSpPr>
        <p:spPr>
          <a:xfrm>
            <a:off x="8497" y="7662"/>
            <a:ext cx="4591137" cy="3588767"/>
          </a:xfrm>
          <a:custGeom>
            <a:avLst/>
            <a:gdLst>
              <a:gd name="connsiteX0" fmla="*/ 0 w 4591137"/>
              <a:gd name="connsiteY0" fmla="*/ 0 h 3588767"/>
              <a:gd name="connsiteX1" fmla="*/ 4591137 w 4591137"/>
              <a:gd name="connsiteY1" fmla="*/ 0 h 3588767"/>
              <a:gd name="connsiteX2" fmla="*/ 4458037 w 4591137"/>
              <a:gd name="connsiteY2" fmla="*/ 139038 h 3588767"/>
              <a:gd name="connsiteX3" fmla="*/ 3406398 w 4591137"/>
              <a:gd name="connsiteY3" fmla="*/ 1512312 h 3588767"/>
              <a:gd name="connsiteX4" fmla="*/ 202105 w 4591137"/>
              <a:gd name="connsiteY4" fmla="*/ 3554432 h 3588767"/>
              <a:gd name="connsiteX5" fmla="*/ 0 w 4591137"/>
              <a:gd name="connsiteY5" fmla="*/ 3506319 h 3588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91137" h="3588767">
                <a:moveTo>
                  <a:pt x="0" y="0"/>
                </a:moveTo>
                <a:lnTo>
                  <a:pt x="4591137" y="0"/>
                </a:lnTo>
                <a:lnTo>
                  <a:pt x="4458037" y="139038"/>
                </a:lnTo>
                <a:cubicBezTo>
                  <a:pt x="4038035" y="589101"/>
                  <a:pt x="3677988" y="1055885"/>
                  <a:pt x="3406398" y="1512312"/>
                </a:cubicBezTo>
                <a:cubicBezTo>
                  <a:pt x="2398561" y="3215836"/>
                  <a:pt x="1221089" y="3736280"/>
                  <a:pt x="202105" y="3554432"/>
                </a:cubicBezTo>
                <a:lnTo>
                  <a:pt x="0" y="3506319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25000"/>
                  <a:alpha val="55687"/>
                </a:schemeClr>
              </a:gs>
              <a:gs pos="99000">
                <a:schemeClr val="accent1">
                  <a:lumMod val="60000"/>
                  <a:lumOff val="40000"/>
                  <a:alpha val="20003"/>
                </a:schemeClr>
              </a:gs>
            </a:gsLst>
            <a:lin ang="189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24">
            <a:extLst>
              <a:ext uri="{FF2B5EF4-FFF2-40B4-BE49-F238E27FC236}">
                <a16:creationId xmlns:a16="http://schemas.microsoft.com/office/drawing/2014/main" id="{2698A246-2716-9361-4EDE-2498058A4C3A}"/>
              </a:ext>
            </a:extLst>
          </p:cNvPr>
          <p:cNvSpPr/>
          <p:nvPr userDrawn="1"/>
        </p:nvSpPr>
        <p:spPr>
          <a:xfrm>
            <a:off x="0" y="0"/>
            <a:ext cx="1893320" cy="2085274"/>
          </a:xfrm>
          <a:custGeom>
            <a:avLst/>
            <a:gdLst>
              <a:gd name="connsiteX0" fmla="*/ 0 w 1893320"/>
              <a:gd name="connsiteY0" fmla="*/ 0 h 2085274"/>
              <a:gd name="connsiteX1" fmla="*/ 1893320 w 1893320"/>
              <a:gd name="connsiteY1" fmla="*/ 0 h 2085274"/>
              <a:gd name="connsiteX2" fmla="*/ 1836420 w 1893320"/>
              <a:gd name="connsiteY2" fmla="*/ 89992 h 2085274"/>
              <a:gd name="connsiteX3" fmla="*/ 1471130 w 1893320"/>
              <a:gd name="connsiteY3" fmla="*/ 883842 h 2085274"/>
              <a:gd name="connsiteX4" fmla="*/ 90049 w 1893320"/>
              <a:gd name="connsiteY4" fmla="*/ 2071651 h 2085274"/>
              <a:gd name="connsiteX5" fmla="*/ 0 w 1893320"/>
              <a:gd name="connsiteY5" fmla="*/ 2052168 h 2085274"/>
              <a:gd name="connsiteX6" fmla="*/ 0 w 1893320"/>
              <a:gd name="connsiteY6" fmla="*/ 0 h 2085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93320" h="2085274">
                <a:moveTo>
                  <a:pt x="0" y="0"/>
                </a:moveTo>
                <a:lnTo>
                  <a:pt x="1893320" y="0"/>
                </a:lnTo>
                <a:lnTo>
                  <a:pt x="1836420" y="89992"/>
                </a:lnTo>
                <a:cubicBezTo>
                  <a:pt x="1676137" y="357859"/>
                  <a:pt x="1549717" y="629674"/>
                  <a:pt x="1471130" y="883842"/>
                </a:cubicBezTo>
                <a:cubicBezTo>
                  <a:pt x="1174602" y="1851540"/>
                  <a:pt x="614067" y="2156914"/>
                  <a:pt x="90049" y="2071651"/>
                </a:cubicBezTo>
                <a:lnTo>
                  <a:pt x="0" y="20521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50000"/>
              <a:alpha val="1074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9A7DD52-C2B0-2B91-92C0-905899BB578D}"/>
              </a:ext>
            </a:extLst>
          </p:cNvPr>
          <p:cNvSpPr/>
          <p:nvPr userDrawn="1"/>
        </p:nvSpPr>
        <p:spPr>
          <a:xfrm>
            <a:off x="2" y="5262792"/>
            <a:ext cx="2809260" cy="1595208"/>
          </a:xfrm>
          <a:custGeom>
            <a:avLst/>
            <a:gdLst>
              <a:gd name="connsiteX0" fmla="*/ 0 w 2809260"/>
              <a:gd name="connsiteY0" fmla="*/ 0 h 1595208"/>
              <a:gd name="connsiteX1" fmla="*/ 101140 w 2809260"/>
              <a:gd name="connsiteY1" fmla="*/ 117015 h 1595208"/>
              <a:gd name="connsiteX2" fmla="*/ 2208849 w 2809260"/>
              <a:gd name="connsiteY2" fmla="*/ 1381471 h 1595208"/>
              <a:gd name="connsiteX3" fmla="*/ 2746965 w 2809260"/>
              <a:gd name="connsiteY3" fmla="*/ 1562268 h 1595208"/>
              <a:gd name="connsiteX4" fmla="*/ 2809260 w 2809260"/>
              <a:gd name="connsiteY4" fmla="*/ 1595208 h 1595208"/>
              <a:gd name="connsiteX5" fmla="*/ 0 w 2809260"/>
              <a:gd name="connsiteY5" fmla="*/ 1595207 h 1595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09260" h="1595208">
                <a:moveTo>
                  <a:pt x="0" y="0"/>
                </a:moveTo>
                <a:lnTo>
                  <a:pt x="101140" y="117015"/>
                </a:lnTo>
                <a:cubicBezTo>
                  <a:pt x="653434" y="714877"/>
                  <a:pt x="1509442" y="1220329"/>
                  <a:pt x="2208849" y="1381471"/>
                </a:cubicBezTo>
                <a:cubicBezTo>
                  <a:pt x="2416303" y="1428716"/>
                  <a:pt x="2594874" y="1490011"/>
                  <a:pt x="2746965" y="1562268"/>
                </a:cubicBezTo>
                <a:lnTo>
                  <a:pt x="2809260" y="1595208"/>
                </a:lnTo>
                <a:lnTo>
                  <a:pt x="0" y="1595207"/>
                </a:lnTo>
                <a:close/>
              </a:path>
            </a:pathLst>
          </a:custGeom>
          <a:gradFill flip="none" rotWithShape="1">
            <a:gsLst>
              <a:gs pos="98000">
                <a:schemeClr val="accent5">
                  <a:lumMod val="50000"/>
                  <a:alpha val="67000"/>
                </a:schemeClr>
              </a:gs>
              <a:gs pos="0">
                <a:schemeClr val="accent6">
                  <a:alpha val="4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29">
            <a:extLst>
              <a:ext uri="{FF2B5EF4-FFF2-40B4-BE49-F238E27FC236}">
                <a16:creationId xmlns:a16="http://schemas.microsoft.com/office/drawing/2014/main" id="{73541AB3-4000-4259-4112-06DA0F0728A5}"/>
              </a:ext>
            </a:extLst>
          </p:cNvPr>
          <p:cNvSpPr/>
          <p:nvPr userDrawn="1"/>
        </p:nvSpPr>
        <p:spPr>
          <a:xfrm>
            <a:off x="10193397" y="2730129"/>
            <a:ext cx="1979119" cy="4127871"/>
          </a:xfrm>
          <a:custGeom>
            <a:avLst/>
            <a:gdLst>
              <a:gd name="connsiteX0" fmla="*/ 1979119 w 1979119"/>
              <a:gd name="connsiteY0" fmla="*/ 0 h 4127871"/>
              <a:gd name="connsiteX1" fmla="*/ 1979119 w 1979119"/>
              <a:gd name="connsiteY1" fmla="*/ 4127871 h 4127871"/>
              <a:gd name="connsiteX2" fmla="*/ 0 w 1979119"/>
              <a:gd name="connsiteY2" fmla="*/ 4127871 h 4127871"/>
              <a:gd name="connsiteX3" fmla="*/ 113381 w 1979119"/>
              <a:gd name="connsiteY3" fmla="*/ 3939685 h 4127871"/>
              <a:gd name="connsiteX4" fmla="*/ 893390 w 1979119"/>
              <a:gd name="connsiteY4" fmla="*/ 1926136 h 4127871"/>
              <a:gd name="connsiteX5" fmla="*/ 1827429 w 1979119"/>
              <a:gd name="connsiteY5" fmla="*/ 103152 h 4127871"/>
              <a:gd name="connsiteX6" fmla="*/ 1979119 w 1979119"/>
              <a:gd name="connsiteY6" fmla="*/ 0 h 4127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79119" h="4127871">
                <a:moveTo>
                  <a:pt x="1979119" y="0"/>
                </a:moveTo>
                <a:lnTo>
                  <a:pt x="1979119" y="4127871"/>
                </a:lnTo>
                <a:lnTo>
                  <a:pt x="0" y="4127871"/>
                </a:lnTo>
                <a:lnTo>
                  <a:pt x="113381" y="3939685"/>
                </a:lnTo>
                <a:cubicBezTo>
                  <a:pt x="496433" y="3268400"/>
                  <a:pt x="776925" y="2555572"/>
                  <a:pt x="893390" y="1926136"/>
                </a:cubicBezTo>
                <a:cubicBezTo>
                  <a:pt x="1059875" y="1013485"/>
                  <a:pt x="1404160" y="429246"/>
                  <a:pt x="1827429" y="103152"/>
                </a:cubicBezTo>
                <a:lnTo>
                  <a:pt x="1979119" y="0"/>
                </a:lnTo>
                <a:close/>
              </a:path>
            </a:pathLst>
          </a:custGeom>
          <a:gradFill>
            <a:gsLst>
              <a:gs pos="83000">
                <a:schemeClr val="accent5">
                  <a:lumMod val="58000"/>
                  <a:alpha val="35019"/>
                </a:schemeClr>
              </a:gs>
              <a:gs pos="0">
                <a:schemeClr val="accent6">
                  <a:lumMod val="89923"/>
                  <a:lumOff val="10077"/>
                  <a:alpha val="3555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36" y="822960"/>
            <a:ext cx="8878824" cy="1069848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6192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36192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54880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54880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‹Nr.›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C963910-7C6F-7474-84FF-C53D235027B8}"/>
              </a:ext>
            </a:extLst>
          </p:cNvPr>
          <p:cNvCxnSpPr>
            <a:cxnSpLocks/>
          </p:cNvCxnSpPr>
          <p:nvPr userDrawn="1"/>
        </p:nvCxnSpPr>
        <p:spPr>
          <a:xfrm>
            <a:off x="594170" y="846661"/>
            <a:ext cx="0" cy="511101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43CEC7BC-C46D-D3AD-22D8-8737322B7E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73568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658FA801-D400-D7FB-6241-4A41BBAAA0D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73568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03394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15CD9-7B09-FB25-0368-96365B9D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88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6BE5A-F1AC-214F-638D-C6C21E51BF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127D4-BE09-1C43-0562-195F20C8A0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1740CAD-6CDA-9014-8875-BCECEECE0522}"/>
              </a:ext>
            </a:extLst>
          </p:cNvPr>
          <p:cNvSpPr/>
          <p:nvPr userDrawn="1"/>
        </p:nvSpPr>
        <p:spPr>
          <a:xfrm flipH="1">
            <a:off x="3791017" y="2349814"/>
            <a:ext cx="2058045" cy="205804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6E536D1-EF07-9062-CA32-986876ED933F}"/>
              </a:ext>
            </a:extLst>
          </p:cNvPr>
          <p:cNvSpPr/>
          <p:nvPr userDrawn="1"/>
        </p:nvSpPr>
        <p:spPr>
          <a:xfrm flipH="1">
            <a:off x="8929767" y="2349814"/>
            <a:ext cx="2058045" cy="205804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D09D35C-DD66-8B6A-98FE-003262BBE72D}"/>
              </a:ext>
            </a:extLst>
          </p:cNvPr>
          <p:cNvSpPr/>
          <p:nvPr userDrawn="1"/>
        </p:nvSpPr>
        <p:spPr>
          <a:xfrm flipH="1">
            <a:off x="6342947" y="2349814"/>
            <a:ext cx="2058045" cy="205804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0E263D2-96A8-9EB3-2175-1DB2FD5CB609}"/>
              </a:ext>
            </a:extLst>
          </p:cNvPr>
          <p:cNvSpPr/>
          <p:nvPr userDrawn="1"/>
        </p:nvSpPr>
        <p:spPr>
          <a:xfrm flipH="1">
            <a:off x="1247942" y="2349814"/>
            <a:ext cx="2058045" cy="2058045"/>
          </a:xfrm>
          <a:prstGeom prst="ellipse">
            <a:avLst/>
          </a:prstGeom>
          <a:gradFill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3517CD-F786-4206-2455-E4C3BD987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2524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978C389-1D90-6CEB-1D34-D69BF78983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2524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2B5D758-2B43-B448-79C9-1F09317F86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27120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5404FC1-F068-1D2B-A3D6-59F44099D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27120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F0B1C4A-F0AC-3974-6F79-9CCF799976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0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5C12C91B-3BBC-019A-22DF-DF71A287D5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6000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B3FD4C7-50B9-E37D-A077-B15D8C6DB9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24349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486092F0-1D91-8C7F-EEFE-A7D79FF89C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24349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D38BBA9-DB40-81D9-4D13-4351576F9F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399285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D4E44748-5631-A2C7-ADA1-FB2707923EE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94678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8A56F66F-909F-8F64-B021-9820EB3F6B6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49871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EB90D275-5951-BAE0-8859-71B60C9460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8553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2011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3CF1AC86-4E83-EED8-9FB5-635710111D45}"/>
              </a:ext>
            </a:extLst>
          </p:cNvPr>
          <p:cNvSpPr/>
          <p:nvPr userDrawn="1"/>
        </p:nvSpPr>
        <p:spPr>
          <a:xfrm flipH="1">
            <a:off x="1704107" y="4055522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03E890B-5D84-F4A6-E963-051A1C52577D}"/>
              </a:ext>
            </a:extLst>
          </p:cNvPr>
          <p:cNvSpPr/>
          <p:nvPr userDrawn="1"/>
        </p:nvSpPr>
        <p:spPr>
          <a:xfrm flipH="1">
            <a:off x="4228381" y="1853643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A321B0B-6EF1-E460-8E13-3BBE774FA148}"/>
              </a:ext>
            </a:extLst>
          </p:cNvPr>
          <p:cNvSpPr/>
          <p:nvPr userDrawn="1"/>
        </p:nvSpPr>
        <p:spPr>
          <a:xfrm flipH="1">
            <a:off x="6752655" y="4055275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98AB146-30D1-CD59-5D88-5097CF8561D1}"/>
              </a:ext>
            </a:extLst>
          </p:cNvPr>
          <p:cNvSpPr/>
          <p:nvPr userDrawn="1"/>
        </p:nvSpPr>
        <p:spPr>
          <a:xfrm flipH="1">
            <a:off x="9280950" y="4066155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FE52614-CC2D-3550-FDBA-9D7D76ED0F72}"/>
              </a:ext>
            </a:extLst>
          </p:cNvPr>
          <p:cNvSpPr/>
          <p:nvPr userDrawn="1"/>
        </p:nvSpPr>
        <p:spPr>
          <a:xfrm flipH="1">
            <a:off x="4228381" y="4056366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19BEA3C-B965-CC70-315C-7C531CD7AA4A}"/>
              </a:ext>
            </a:extLst>
          </p:cNvPr>
          <p:cNvSpPr/>
          <p:nvPr userDrawn="1"/>
        </p:nvSpPr>
        <p:spPr>
          <a:xfrm flipH="1">
            <a:off x="9276929" y="1861862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BCCE6E9-C40E-A684-457C-F08C974BD59F}"/>
              </a:ext>
            </a:extLst>
          </p:cNvPr>
          <p:cNvSpPr/>
          <p:nvPr userDrawn="1"/>
        </p:nvSpPr>
        <p:spPr>
          <a:xfrm flipH="1">
            <a:off x="6752655" y="1855810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9B5F0D0-ABA3-5B0F-77C9-C5B64A613F84}"/>
              </a:ext>
            </a:extLst>
          </p:cNvPr>
          <p:cNvSpPr/>
          <p:nvPr userDrawn="1"/>
        </p:nvSpPr>
        <p:spPr>
          <a:xfrm flipH="1">
            <a:off x="1692043" y="1846020"/>
            <a:ext cx="1231495" cy="1231495"/>
          </a:xfrm>
          <a:prstGeom prst="ellipse">
            <a:avLst/>
          </a:prstGeom>
          <a:gradFill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15CD9-7B09-FB25-0368-96365B9D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88" y="338328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6BE5A-F1AC-214F-638D-C6C21E51BF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127D4-BE09-1C43-0562-195F20C8A0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3517CD-F786-4206-2455-E4C3BD987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76854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978C389-1D90-6CEB-1D34-D69BF78983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76854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2B5D758-2B43-B448-79C9-1F09317F86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01128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5404FC1-F068-1D2B-A3D6-59F44099D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01128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F0B1C4A-F0AC-3974-6F79-9CCF799976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25402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5C12C91B-3BBC-019A-22DF-DF71A287D5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25402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B3FD4C7-50B9-E37D-A077-B15D8C6DB9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49676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486092F0-1D91-8C7F-EEFE-A7D79FF89C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49676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D38BBA9-DB40-81D9-4D13-4351576F9F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782010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D4E44748-5631-A2C7-ADA1-FB2707923EE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318348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8A56F66F-909F-8F64-B021-9820EB3F6B6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42622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EB90D275-5951-BAE0-8859-71B60C9460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66896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9" name="Picture Placeholder 20">
            <a:extLst>
              <a:ext uri="{FF2B5EF4-FFF2-40B4-BE49-F238E27FC236}">
                <a16:creationId xmlns:a16="http://schemas.microsoft.com/office/drawing/2014/main" id="{BA9EB14D-8336-06B5-51E3-FBCAF00F1F2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794074" y="4145489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30" name="Picture Placeholder 20">
            <a:extLst>
              <a:ext uri="{FF2B5EF4-FFF2-40B4-BE49-F238E27FC236}">
                <a16:creationId xmlns:a16="http://schemas.microsoft.com/office/drawing/2014/main" id="{A1E65D12-1094-78B5-B37A-A03576991D1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318348" y="4146333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31" name="Picture Placeholder 20">
            <a:extLst>
              <a:ext uri="{FF2B5EF4-FFF2-40B4-BE49-F238E27FC236}">
                <a16:creationId xmlns:a16="http://schemas.microsoft.com/office/drawing/2014/main" id="{6ABE5CEC-34A4-CD5D-FA0D-D675A87984F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842622" y="4145242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32" name="Picture Placeholder 20">
            <a:extLst>
              <a:ext uri="{FF2B5EF4-FFF2-40B4-BE49-F238E27FC236}">
                <a16:creationId xmlns:a16="http://schemas.microsoft.com/office/drawing/2014/main" id="{5DA945B5-3444-7CAC-AA4A-55B04D03982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370917" y="4156122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CB0DA5B5-9C84-7B23-EE8E-CEA555CD808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176854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99C62621-0080-5CDD-E5DD-2FCF2D548CE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176854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5" name="Text Placeholder 11">
            <a:extLst>
              <a:ext uri="{FF2B5EF4-FFF2-40B4-BE49-F238E27FC236}">
                <a16:creationId xmlns:a16="http://schemas.microsoft.com/office/drawing/2014/main" id="{B69DDE47-632B-987E-545E-BAB200D374E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701128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A165DCBF-4EFD-7181-68BA-1625AC1C0D5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701128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3C7ECA2F-9EC3-26BD-B424-ECE80473DF3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225402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C9535F99-6134-8D03-FFEE-D1B3E007F2C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25402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163BD863-99E7-C7C4-4762-8C168574E9A8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749676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63678AE5-B810-D5BE-40B5-888AF447315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49676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3458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F4F2FF2-B2D0-EAB9-0059-1E59CFF27936}"/>
              </a:ext>
            </a:extLst>
          </p:cNvPr>
          <p:cNvSpPr/>
          <p:nvPr userDrawn="1"/>
        </p:nvSpPr>
        <p:spPr>
          <a:xfrm>
            <a:off x="0" y="3079989"/>
            <a:ext cx="4744043" cy="3778013"/>
          </a:xfrm>
          <a:custGeom>
            <a:avLst/>
            <a:gdLst>
              <a:gd name="connsiteX0" fmla="*/ 552680 w 4744043"/>
              <a:gd name="connsiteY0" fmla="*/ 2 h 3778013"/>
              <a:gd name="connsiteX1" fmla="*/ 3368067 w 4744043"/>
              <a:gd name="connsiteY1" fmla="*/ 2076456 h 3778013"/>
              <a:gd name="connsiteX2" fmla="*/ 4603294 w 4744043"/>
              <a:gd name="connsiteY2" fmla="*/ 3641510 h 3778013"/>
              <a:gd name="connsiteX3" fmla="*/ 4744043 w 4744043"/>
              <a:gd name="connsiteY3" fmla="*/ 3778013 h 3778013"/>
              <a:gd name="connsiteX4" fmla="*/ 0 w 4744043"/>
              <a:gd name="connsiteY4" fmla="*/ 3778013 h 3778013"/>
              <a:gd name="connsiteX5" fmla="*/ 0 w 4744043"/>
              <a:gd name="connsiteY5" fmla="*/ 73323 h 3778013"/>
              <a:gd name="connsiteX6" fmla="*/ 163773 w 4744043"/>
              <a:gd name="connsiteY6" fmla="*/ 34335 h 3778013"/>
              <a:gd name="connsiteX7" fmla="*/ 552680 w 4744043"/>
              <a:gd name="connsiteY7" fmla="*/ 2 h 3778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44043" h="3778013">
                <a:moveTo>
                  <a:pt x="552680" y="2"/>
                </a:moveTo>
                <a:cubicBezTo>
                  <a:pt x="1474475" y="1086"/>
                  <a:pt x="2486209" y="585872"/>
                  <a:pt x="3368067" y="2076456"/>
                </a:cubicBezTo>
                <a:cubicBezTo>
                  <a:pt x="3678455" y="2598086"/>
                  <a:pt x="4104379" y="3133243"/>
                  <a:pt x="4603294" y="3641510"/>
                </a:cubicBezTo>
                <a:lnTo>
                  <a:pt x="4744043" y="3778013"/>
                </a:lnTo>
                <a:lnTo>
                  <a:pt x="0" y="3778013"/>
                </a:lnTo>
                <a:lnTo>
                  <a:pt x="0" y="73323"/>
                </a:lnTo>
                <a:lnTo>
                  <a:pt x="163773" y="34335"/>
                </a:lnTo>
                <a:cubicBezTo>
                  <a:pt x="291146" y="11604"/>
                  <a:pt x="420996" y="-154"/>
                  <a:pt x="552680" y="2"/>
                </a:cubicBezTo>
                <a:close/>
              </a:path>
            </a:pathLst>
          </a:custGeom>
          <a:gradFill flip="none" rotWithShape="1">
            <a:gsLst>
              <a:gs pos="41000">
                <a:schemeClr val="accent3">
                  <a:lumMod val="25000"/>
                  <a:alpha val="67969"/>
                </a:schemeClr>
              </a:gs>
              <a:gs pos="100000">
                <a:schemeClr val="accent2">
                  <a:alpha val="29022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B193F7C-DAB3-79A0-9B6F-012F23BAF8BD}"/>
              </a:ext>
            </a:extLst>
          </p:cNvPr>
          <p:cNvSpPr/>
          <p:nvPr userDrawn="1"/>
        </p:nvSpPr>
        <p:spPr>
          <a:xfrm>
            <a:off x="1" y="0"/>
            <a:ext cx="6552595" cy="3112082"/>
          </a:xfrm>
          <a:custGeom>
            <a:avLst/>
            <a:gdLst>
              <a:gd name="connsiteX0" fmla="*/ 6552595 w 6552595"/>
              <a:gd name="connsiteY0" fmla="*/ 0 h 3112082"/>
              <a:gd name="connsiteX1" fmla="*/ 6479403 w 6552595"/>
              <a:gd name="connsiteY1" fmla="*/ 116338 h 3112082"/>
              <a:gd name="connsiteX2" fmla="*/ 4627940 w 6552595"/>
              <a:gd name="connsiteY2" fmla="*/ 645238 h 3112082"/>
              <a:gd name="connsiteX3" fmla="*/ 631580 w 6552595"/>
              <a:gd name="connsiteY3" fmla="*/ 1915852 h 3112082"/>
              <a:gd name="connsiteX4" fmla="*/ 46252 w 6552595"/>
              <a:gd name="connsiteY4" fmla="*/ 2980209 h 3112082"/>
              <a:gd name="connsiteX5" fmla="*/ 0 w 6552595"/>
              <a:gd name="connsiteY5" fmla="*/ 3112082 h 3112082"/>
              <a:gd name="connsiteX6" fmla="*/ 0 w 6552595"/>
              <a:gd name="connsiteY6" fmla="*/ 1037361 h 3112082"/>
              <a:gd name="connsiteX7" fmla="*/ 0 w 6552595"/>
              <a:gd name="connsiteY7" fmla="*/ 0 h 3112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52595" h="3112082">
                <a:moveTo>
                  <a:pt x="6552595" y="0"/>
                </a:moveTo>
                <a:lnTo>
                  <a:pt x="6479403" y="116338"/>
                </a:lnTo>
                <a:cubicBezTo>
                  <a:pt x="6181653" y="532833"/>
                  <a:pt x="5587528" y="785625"/>
                  <a:pt x="4627940" y="645238"/>
                </a:cubicBezTo>
                <a:cubicBezTo>
                  <a:pt x="3343367" y="460619"/>
                  <a:pt x="1347900" y="971915"/>
                  <a:pt x="631580" y="1915852"/>
                </a:cubicBezTo>
                <a:cubicBezTo>
                  <a:pt x="407731" y="2210834"/>
                  <a:pt x="204970" y="2565624"/>
                  <a:pt x="46252" y="2980209"/>
                </a:cubicBezTo>
                <a:lnTo>
                  <a:pt x="0" y="3112082"/>
                </a:lnTo>
                <a:lnTo>
                  <a:pt x="0" y="1037361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76000">
                <a:schemeClr val="accent3">
                  <a:lumMod val="25000"/>
                </a:schemeClr>
              </a:gs>
              <a:gs pos="0">
                <a:schemeClr val="accent1">
                  <a:alpha val="56738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9D045F5-266F-9ADF-9692-2DA7DB16DFFE}"/>
              </a:ext>
            </a:extLst>
          </p:cNvPr>
          <p:cNvSpPr/>
          <p:nvPr userDrawn="1"/>
        </p:nvSpPr>
        <p:spPr>
          <a:xfrm>
            <a:off x="10269564" y="0"/>
            <a:ext cx="1922436" cy="5772376"/>
          </a:xfrm>
          <a:custGeom>
            <a:avLst/>
            <a:gdLst>
              <a:gd name="connsiteX0" fmla="*/ 0 w 1922436"/>
              <a:gd name="connsiteY0" fmla="*/ 0 h 5772376"/>
              <a:gd name="connsiteX1" fmla="*/ 1922436 w 1922436"/>
              <a:gd name="connsiteY1" fmla="*/ 0 h 5772376"/>
              <a:gd name="connsiteX2" fmla="*/ 1922436 w 1922436"/>
              <a:gd name="connsiteY2" fmla="*/ 5770832 h 5772376"/>
              <a:gd name="connsiteX3" fmla="*/ 1785843 w 1922436"/>
              <a:gd name="connsiteY3" fmla="*/ 5772376 h 5772376"/>
              <a:gd name="connsiteX4" fmla="*/ 167636 w 1922436"/>
              <a:gd name="connsiteY4" fmla="*/ 2958760 h 5772376"/>
              <a:gd name="connsiteX5" fmla="*/ 11457 w 1922436"/>
              <a:gd name="connsiteY5" fmla="*/ 41049 h 5772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22436" h="5772376">
                <a:moveTo>
                  <a:pt x="0" y="0"/>
                </a:moveTo>
                <a:lnTo>
                  <a:pt x="1922436" y="0"/>
                </a:lnTo>
                <a:lnTo>
                  <a:pt x="1922436" y="5770832"/>
                </a:lnTo>
                <a:lnTo>
                  <a:pt x="1785843" y="5772376"/>
                </a:lnTo>
                <a:cubicBezTo>
                  <a:pt x="715486" y="5737436"/>
                  <a:pt x="-199675" y="4895626"/>
                  <a:pt x="167636" y="2958760"/>
                </a:cubicBezTo>
                <a:cubicBezTo>
                  <a:pt x="324540" y="2119813"/>
                  <a:pt x="262661" y="1037667"/>
                  <a:pt x="11457" y="41049"/>
                </a:cubicBezTo>
                <a:close/>
              </a:path>
            </a:pathLst>
          </a:custGeom>
          <a:gradFill flip="none" rotWithShape="1">
            <a:gsLst>
              <a:gs pos="10000">
                <a:schemeClr val="accent2">
                  <a:alpha val="9960"/>
                </a:schemeClr>
              </a:gs>
              <a:gs pos="100000">
                <a:schemeClr val="accent1">
                  <a:alpha val="47557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A494E50-F563-24E6-92E6-F9E55D1F3D50}"/>
              </a:ext>
            </a:extLst>
          </p:cNvPr>
          <p:cNvSpPr/>
          <p:nvPr userDrawn="1"/>
        </p:nvSpPr>
        <p:spPr>
          <a:xfrm>
            <a:off x="10861332" y="0"/>
            <a:ext cx="1330669" cy="3088658"/>
          </a:xfrm>
          <a:custGeom>
            <a:avLst/>
            <a:gdLst>
              <a:gd name="connsiteX0" fmla="*/ 0 w 1330669"/>
              <a:gd name="connsiteY0" fmla="*/ 0 h 3088658"/>
              <a:gd name="connsiteX1" fmla="*/ 1330669 w 1330669"/>
              <a:gd name="connsiteY1" fmla="*/ 0 h 3088658"/>
              <a:gd name="connsiteX2" fmla="*/ 1330669 w 1330669"/>
              <a:gd name="connsiteY2" fmla="*/ 3088658 h 3088658"/>
              <a:gd name="connsiteX3" fmla="*/ 1265038 w 1330669"/>
              <a:gd name="connsiteY3" fmla="*/ 3075052 h 3088658"/>
              <a:gd name="connsiteX4" fmla="*/ 84101 w 1330669"/>
              <a:gd name="connsiteY4" fmla="*/ 918166 h 3088658"/>
              <a:gd name="connsiteX5" fmla="*/ 3100 w 1330669"/>
              <a:gd name="connsiteY5" fmla="*/ 15153 h 3088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30669" h="3088658">
                <a:moveTo>
                  <a:pt x="0" y="0"/>
                </a:moveTo>
                <a:lnTo>
                  <a:pt x="1330669" y="0"/>
                </a:lnTo>
                <a:lnTo>
                  <a:pt x="1330669" y="3088658"/>
                </a:lnTo>
                <a:lnTo>
                  <a:pt x="1265038" y="3075052"/>
                </a:lnTo>
                <a:cubicBezTo>
                  <a:pt x="597017" y="2898062"/>
                  <a:pt x="64513" y="2241595"/>
                  <a:pt x="84101" y="918166"/>
                </a:cubicBezTo>
                <a:cubicBezTo>
                  <a:pt x="87550" y="637183"/>
                  <a:pt x="59230" y="331259"/>
                  <a:pt x="3100" y="15153"/>
                </a:cubicBezTo>
                <a:close/>
              </a:path>
            </a:pathLst>
          </a:custGeom>
          <a:solidFill>
            <a:schemeClr val="accent1">
              <a:alpha val="50635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glass card">
            <a:extLst>
              <a:ext uri="{FF2B5EF4-FFF2-40B4-BE49-F238E27FC236}">
                <a16:creationId xmlns:a16="http://schemas.microsoft.com/office/drawing/2014/main" id="{D9024B22-C102-71C1-8593-95259EC18972}"/>
              </a:ext>
            </a:extLst>
          </p:cNvPr>
          <p:cNvSpPr/>
          <p:nvPr userDrawn="1"/>
        </p:nvSpPr>
        <p:spPr>
          <a:xfrm>
            <a:off x="1474384" y="1005155"/>
            <a:ext cx="9243233" cy="4978750"/>
          </a:xfrm>
          <a:prstGeom prst="roundRect">
            <a:avLst>
              <a:gd name="adj" fmla="val 6806"/>
            </a:avLst>
          </a:prstGeom>
          <a:gradFill>
            <a:gsLst>
              <a:gs pos="99000">
                <a:schemeClr val="bg1">
                  <a:alpha val="3000"/>
                </a:schemeClr>
              </a:gs>
              <a:gs pos="46000">
                <a:schemeClr val="bg1">
                  <a:alpha val="17037"/>
                </a:schemeClr>
              </a:gs>
              <a:gs pos="6000">
                <a:schemeClr val="bg1">
                  <a:alpha val="13000"/>
                </a:schemeClr>
              </a:gs>
            </a:gsLst>
            <a:path path="circle">
              <a:fillToRect l="100000" t="100000"/>
            </a:path>
          </a:gradFill>
          <a:ln w="6350">
            <a:noFill/>
          </a:ln>
          <a:effectLst>
            <a:outerShdw blurRad="63500" dist="38100" dir="5400000" sx="1000" sy="1000" algn="t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088" y="2157984"/>
            <a:ext cx="7735824" cy="1069848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8088" y="3685032"/>
            <a:ext cx="7735824" cy="113385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303B57-FF55-B795-FAE7-5EF26BFCBEF3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115287" y="2597113"/>
            <a:ext cx="0" cy="16551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8A78F28F-70CE-7FE2-ACE1-FA2D7C1CE590}"/>
              </a:ext>
            </a:extLst>
          </p:cNvPr>
          <p:cNvSpPr/>
          <p:nvPr userDrawn="1"/>
        </p:nvSpPr>
        <p:spPr>
          <a:xfrm>
            <a:off x="0" y="0"/>
            <a:ext cx="2862855" cy="1527696"/>
          </a:xfrm>
          <a:custGeom>
            <a:avLst/>
            <a:gdLst>
              <a:gd name="connsiteX0" fmla="*/ 0 w 2862855"/>
              <a:gd name="connsiteY0" fmla="*/ 0 h 1527696"/>
              <a:gd name="connsiteX1" fmla="*/ 2862855 w 2862855"/>
              <a:gd name="connsiteY1" fmla="*/ 0 h 1527696"/>
              <a:gd name="connsiteX2" fmla="*/ 2757362 w 2862855"/>
              <a:gd name="connsiteY2" fmla="*/ 85011 h 1527696"/>
              <a:gd name="connsiteX3" fmla="*/ 1949659 w 2862855"/>
              <a:gd name="connsiteY3" fmla="*/ 424032 h 1527696"/>
              <a:gd name="connsiteX4" fmla="*/ 170555 w 2862855"/>
              <a:gd name="connsiteY4" fmla="*/ 1373059 h 1527696"/>
              <a:gd name="connsiteX5" fmla="*/ 0 w 2862855"/>
              <a:gd name="connsiteY5" fmla="*/ 1527696 h 1527696"/>
              <a:gd name="connsiteX6" fmla="*/ 0 w 2862855"/>
              <a:gd name="connsiteY6" fmla="*/ 872969 h 1527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2855" h="1527696">
                <a:moveTo>
                  <a:pt x="0" y="0"/>
                </a:moveTo>
                <a:lnTo>
                  <a:pt x="2862855" y="0"/>
                </a:lnTo>
                <a:lnTo>
                  <a:pt x="2757362" y="85011"/>
                </a:lnTo>
                <a:cubicBezTo>
                  <a:pt x="2560942" y="227521"/>
                  <a:pt x="2295416" y="345289"/>
                  <a:pt x="1949659" y="424032"/>
                </a:cubicBezTo>
                <a:cubicBezTo>
                  <a:pt x="1377417" y="555874"/>
                  <a:pt x="700343" y="918207"/>
                  <a:pt x="170555" y="1373059"/>
                </a:cubicBezTo>
                <a:lnTo>
                  <a:pt x="0" y="1527696"/>
                </a:lnTo>
                <a:lnTo>
                  <a:pt x="0" y="872969"/>
                </a:lnTo>
                <a:close/>
              </a:path>
            </a:pathLst>
          </a:custGeom>
          <a:gradFill flip="none" rotWithShape="1">
            <a:gsLst>
              <a:gs pos="100000">
                <a:schemeClr val="accent3">
                  <a:lumMod val="25000"/>
                  <a:alpha val="40000"/>
                </a:schemeClr>
              </a:gs>
              <a:gs pos="0">
                <a:schemeClr val="accent4">
                  <a:alpha val="69786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294AB31D-FEF2-F3B0-D726-81CE48F895EA}"/>
              </a:ext>
            </a:extLst>
          </p:cNvPr>
          <p:cNvSpPr/>
          <p:nvPr userDrawn="1"/>
        </p:nvSpPr>
        <p:spPr>
          <a:xfrm>
            <a:off x="2" y="4761091"/>
            <a:ext cx="3131151" cy="2096908"/>
          </a:xfrm>
          <a:custGeom>
            <a:avLst/>
            <a:gdLst>
              <a:gd name="connsiteX0" fmla="*/ 186163 w 3131151"/>
              <a:gd name="connsiteY0" fmla="*/ 0 h 2096908"/>
              <a:gd name="connsiteX1" fmla="*/ 2469297 w 3131151"/>
              <a:gd name="connsiteY1" fmla="*/ 1411265 h 2096908"/>
              <a:gd name="connsiteX2" fmla="*/ 3026909 w 3131151"/>
              <a:gd name="connsiteY2" fmla="*/ 2004423 h 2096908"/>
              <a:gd name="connsiteX3" fmla="*/ 3131151 w 3131151"/>
              <a:gd name="connsiteY3" fmla="*/ 2096908 h 2096908"/>
              <a:gd name="connsiteX4" fmla="*/ 0 w 3131151"/>
              <a:gd name="connsiteY4" fmla="*/ 2096908 h 2096908"/>
              <a:gd name="connsiteX5" fmla="*/ 0 w 3131151"/>
              <a:gd name="connsiteY5" fmla="*/ 4640 h 2096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31151" h="2096908">
                <a:moveTo>
                  <a:pt x="186163" y="0"/>
                </a:moveTo>
                <a:cubicBezTo>
                  <a:pt x="883663" y="24692"/>
                  <a:pt x="1675023" y="432572"/>
                  <a:pt x="2469297" y="1411265"/>
                </a:cubicBezTo>
                <a:cubicBezTo>
                  <a:pt x="2632187" y="1610943"/>
                  <a:pt x="2819757" y="1809855"/>
                  <a:pt x="3026909" y="2004423"/>
                </a:cubicBezTo>
                <a:lnTo>
                  <a:pt x="3131151" y="2096908"/>
                </a:lnTo>
                <a:lnTo>
                  <a:pt x="0" y="2096908"/>
                </a:lnTo>
                <a:lnTo>
                  <a:pt x="0" y="4640"/>
                </a:lnTo>
                <a:close/>
              </a:path>
            </a:pathLst>
          </a:custGeom>
          <a:gradFill flip="none" rotWithShape="1">
            <a:gsLst>
              <a:gs pos="47000">
                <a:schemeClr val="accent6">
                  <a:alpha val="51365"/>
                </a:schemeClr>
              </a:gs>
              <a:gs pos="100000">
                <a:schemeClr val="accent4">
                  <a:alpha val="24386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38430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FA2E8-50A1-4465-AC33-6FAC0E773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2824" y="1856232"/>
            <a:ext cx="4718304" cy="1069848"/>
          </a:xfrm>
        </p:spPr>
        <p:txBody>
          <a:bodyPr anchor="b">
            <a:no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1968" y="3374136"/>
            <a:ext cx="4709160" cy="2395728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reeform 14">
            <a:extLst>
              <a:ext uri="{FF2B5EF4-FFF2-40B4-BE49-F238E27FC236}">
                <a16:creationId xmlns:a16="http://schemas.microsoft.com/office/drawing/2014/main" id="{907BDD9A-3C2A-A21B-A425-1BB45BF5C103}"/>
              </a:ext>
            </a:extLst>
          </p:cNvPr>
          <p:cNvSpPr/>
          <p:nvPr userDrawn="1"/>
        </p:nvSpPr>
        <p:spPr>
          <a:xfrm rot="5400000" flipH="1" flipV="1">
            <a:off x="-1248967" y="1248969"/>
            <a:ext cx="6858000" cy="4360065"/>
          </a:xfrm>
          <a:custGeom>
            <a:avLst/>
            <a:gdLst>
              <a:gd name="connsiteX0" fmla="*/ 6858000 w 6858000"/>
              <a:gd name="connsiteY0" fmla="*/ 0 h 4360065"/>
              <a:gd name="connsiteX1" fmla="*/ 6858000 w 6858000"/>
              <a:gd name="connsiteY1" fmla="*/ 4019634 h 4360065"/>
              <a:gd name="connsiteX2" fmla="*/ 6786526 w 6858000"/>
              <a:gd name="connsiteY2" fmla="*/ 3987694 h 4360065"/>
              <a:gd name="connsiteX3" fmla="*/ 4380589 w 6858000"/>
              <a:gd name="connsiteY3" fmla="*/ 3270469 h 4360065"/>
              <a:gd name="connsiteX4" fmla="*/ 1148443 w 6858000"/>
              <a:gd name="connsiteY4" fmla="*/ 4360028 h 4360065"/>
              <a:gd name="connsiteX5" fmla="*/ 93033 w 6858000"/>
              <a:gd name="connsiteY5" fmla="*/ 4174462 h 4360065"/>
              <a:gd name="connsiteX6" fmla="*/ 0 w 6858000"/>
              <a:gd name="connsiteY6" fmla="*/ 4134599 h 4360065"/>
              <a:gd name="connsiteX7" fmla="*/ 0 w 6858000"/>
              <a:gd name="connsiteY7" fmla="*/ 0 h 4360065"/>
              <a:gd name="connsiteX8" fmla="*/ 6858000 w 6858000"/>
              <a:gd name="connsiteY8" fmla="*/ 0 h 436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4360065">
                <a:moveTo>
                  <a:pt x="6858000" y="0"/>
                </a:moveTo>
                <a:lnTo>
                  <a:pt x="6858000" y="4019634"/>
                </a:lnTo>
                <a:lnTo>
                  <a:pt x="6786526" y="3987694"/>
                </a:lnTo>
                <a:cubicBezTo>
                  <a:pt x="6330423" y="3769997"/>
                  <a:pt x="5587519" y="3251791"/>
                  <a:pt x="4380589" y="3270469"/>
                </a:cubicBezTo>
                <a:cubicBezTo>
                  <a:pt x="3001241" y="3291816"/>
                  <a:pt x="2442968" y="4353863"/>
                  <a:pt x="1148443" y="4360028"/>
                </a:cubicBezTo>
                <a:cubicBezTo>
                  <a:pt x="743904" y="4361955"/>
                  <a:pt x="389317" y="4288650"/>
                  <a:pt x="93033" y="4174462"/>
                </a:cubicBezTo>
                <a:lnTo>
                  <a:pt x="0" y="4134599"/>
                </a:lnTo>
                <a:lnTo>
                  <a:pt x="0" y="0"/>
                </a:lnTo>
                <a:lnTo>
                  <a:pt x="6858000" y="0"/>
                </a:lnTo>
                <a:close/>
              </a:path>
            </a:pathLst>
          </a:custGeom>
          <a:solidFill>
            <a:schemeClr val="accent4"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989D7F61-B47A-97D5-F725-EC5EFE81187A}"/>
              </a:ext>
            </a:extLst>
          </p:cNvPr>
          <p:cNvSpPr/>
          <p:nvPr userDrawn="1"/>
        </p:nvSpPr>
        <p:spPr>
          <a:xfrm rot="16200000" flipH="1">
            <a:off x="-952024" y="952025"/>
            <a:ext cx="6858000" cy="4953950"/>
          </a:xfrm>
          <a:custGeom>
            <a:avLst/>
            <a:gdLst>
              <a:gd name="connsiteX0" fmla="*/ 0 w 6858000"/>
              <a:gd name="connsiteY0" fmla="*/ 0 h 4953950"/>
              <a:gd name="connsiteX1" fmla="*/ 0 w 6858000"/>
              <a:gd name="connsiteY1" fmla="*/ 4289773 h 4953950"/>
              <a:gd name="connsiteX2" fmla="*/ 181159 w 6858000"/>
              <a:gd name="connsiteY2" fmla="*/ 4411259 h 4953950"/>
              <a:gd name="connsiteX3" fmla="*/ 2222746 w 6858000"/>
              <a:gd name="connsiteY3" fmla="*/ 4953891 h 4953950"/>
              <a:gd name="connsiteX4" fmla="*/ 6808516 w 6858000"/>
              <a:gd name="connsiteY4" fmla="*/ 3223031 h 4953950"/>
              <a:gd name="connsiteX5" fmla="*/ 6858000 w 6858000"/>
              <a:gd name="connsiteY5" fmla="*/ 3220931 h 4953950"/>
              <a:gd name="connsiteX6" fmla="*/ 6858000 w 6858000"/>
              <a:gd name="connsiteY6" fmla="*/ 0 h 4953950"/>
              <a:gd name="connsiteX7" fmla="*/ 0 w 6858000"/>
              <a:gd name="connsiteY7" fmla="*/ 0 h 495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953950">
                <a:moveTo>
                  <a:pt x="0" y="0"/>
                </a:moveTo>
                <a:lnTo>
                  <a:pt x="0" y="4289773"/>
                </a:lnTo>
                <a:lnTo>
                  <a:pt x="181159" y="4411259"/>
                </a:lnTo>
                <a:cubicBezTo>
                  <a:pt x="694541" y="4727180"/>
                  <a:pt x="1386349" y="4958196"/>
                  <a:pt x="2222746" y="4953891"/>
                </a:cubicBezTo>
                <a:cubicBezTo>
                  <a:pt x="4074768" y="4944360"/>
                  <a:pt x="4906383" y="3353427"/>
                  <a:pt x="6808516" y="3223031"/>
                </a:cubicBezTo>
                <a:lnTo>
                  <a:pt x="6858000" y="3220931"/>
                </a:lnTo>
                <a:lnTo>
                  <a:pt x="6858000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20000">
                <a:schemeClr val="accent6">
                  <a:alpha val="52965"/>
                </a:schemeClr>
              </a:gs>
              <a:gs pos="90000">
                <a:schemeClr val="accent5">
                  <a:lumMod val="50000"/>
                  <a:alpha val="72473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A70008D0-0FB3-5B8D-3060-6EDD9E247095}"/>
              </a:ext>
            </a:extLst>
          </p:cNvPr>
          <p:cNvSpPr/>
          <p:nvPr userDrawn="1"/>
        </p:nvSpPr>
        <p:spPr>
          <a:xfrm rot="16200000" flipH="1">
            <a:off x="-1513890" y="1513891"/>
            <a:ext cx="6858000" cy="3830219"/>
          </a:xfrm>
          <a:custGeom>
            <a:avLst/>
            <a:gdLst>
              <a:gd name="connsiteX0" fmla="*/ 0 w 6858000"/>
              <a:gd name="connsiteY0" fmla="*/ 0 h 3830219"/>
              <a:gd name="connsiteX1" fmla="*/ 0 w 6858000"/>
              <a:gd name="connsiteY1" fmla="*/ 2994317 h 3830219"/>
              <a:gd name="connsiteX2" fmla="*/ 150933 w 6858000"/>
              <a:gd name="connsiteY2" fmla="*/ 2952927 h 3830219"/>
              <a:gd name="connsiteX3" fmla="*/ 533317 w 6858000"/>
              <a:gd name="connsiteY3" fmla="*/ 2907735 h 3830219"/>
              <a:gd name="connsiteX4" fmla="*/ 2516906 w 6858000"/>
              <a:gd name="connsiteY4" fmla="*/ 3558655 h 3830219"/>
              <a:gd name="connsiteX5" fmla="*/ 2542419 w 6858000"/>
              <a:gd name="connsiteY5" fmla="*/ 3568616 h 3830219"/>
              <a:gd name="connsiteX6" fmla="*/ 2607100 w 6858000"/>
              <a:gd name="connsiteY6" fmla="*/ 3608308 h 3830219"/>
              <a:gd name="connsiteX7" fmla="*/ 3580199 w 6858000"/>
              <a:gd name="connsiteY7" fmla="*/ 3830188 h 3830219"/>
              <a:gd name="connsiteX8" fmla="*/ 6145368 w 6858000"/>
              <a:gd name="connsiteY8" fmla="*/ 2895740 h 3830219"/>
              <a:gd name="connsiteX9" fmla="*/ 6711794 w 6858000"/>
              <a:gd name="connsiteY9" fmla="*/ 2941805 h 3830219"/>
              <a:gd name="connsiteX10" fmla="*/ 6858000 w 6858000"/>
              <a:gd name="connsiteY10" fmla="*/ 2973381 h 3830219"/>
              <a:gd name="connsiteX11" fmla="*/ 6858000 w 6858000"/>
              <a:gd name="connsiteY11" fmla="*/ 0 h 3830219"/>
              <a:gd name="connsiteX12" fmla="*/ 0 w 6858000"/>
              <a:gd name="connsiteY12" fmla="*/ 0 h 3830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8000" h="3830219">
                <a:moveTo>
                  <a:pt x="0" y="0"/>
                </a:moveTo>
                <a:lnTo>
                  <a:pt x="0" y="2994317"/>
                </a:lnTo>
                <a:lnTo>
                  <a:pt x="150933" y="2952927"/>
                </a:lnTo>
                <a:cubicBezTo>
                  <a:pt x="269822" y="2926258"/>
                  <a:pt x="396478" y="2910024"/>
                  <a:pt x="533317" y="2907735"/>
                </a:cubicBezTo>
                <a:cubicBezTo>
                  <a:pt x="1559606" y="2890571"/>
                  <a:pt x="2163137" y="3401988"/>
                  <a:pt x="2516906" y="3558655"/>
                </a:cubicBezTo>
                <a:lnTo>
                  <a:pt x="2542419" y="3568616"/>
                </a:lnTo>
                <a:lnTo>
                  <a:pt x="2607100" y="3608308"/>
                </a:lnTo>
                <a:cubicBezTo>
                  <a:pt x="2866745" y="3741243"/>
                  <a:pt x="3194928" y="3832171"/>
                  <a:pt x="3580199" y="3830188"/>
                </a:cubicBezTo>
                <a:cubicBezTo>
                  <a:pt x="4607589" y="3824901"/>
                  <a:pt x="5050658" y="2914049"/>
                  <a:pt x="6145368" y="2895740"/>
                </a:cubicBezTo>
                <a:cubicBezTo>
                  <a:pt x="6350626" y="2892307"/>
                  <a:pt x="6538973" y="2910018"/>
                  <a:pt x="6711794" y="2941805"/>
                </a:cubicBezTo>
                <a:lnTo>
                  <a:pt x="6858000" y="2973381"/>
                </a:lnTo>
                <a:lnTo>
                  <a:pt x="6858000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45000">
                <a:schemeClr val="accent6">
                  <a:alpha val="29951"/>
                </a:schemeClr>
              </a:gs>
              <a:gs pos="99000">
                <a:schemeClr val="accent4">
                  <a:lumMod val="75000"/>
                  <a:alpha val="2734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CA6FFAC-0E5C-DA2F-C0F9-D5602F928AEC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7545111" y="2275586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F7D74-558F-4816-9367-4004FFA2B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69ADF-8CD9-4E77-BB8D-70D8824C5A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F077D-E901-4AA9-B062-1C37FF407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7B5E76-E101-4994-92F5-1F540EB16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9F242-2699-411D-B3F7-3D6D480E4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6943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C6CA6E-C1AB-4B24-80C7-A4B12640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EFB41-7AD3-4519-95E7-416BFA1A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BD6A3-F987-4FCC-A6EF-2EF0D33C0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F06A0-63CE-4272-B90E-4F20296BF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467220-06E3-427A-B4D3-9B0030E09D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AEF53B-C85C-47DB-ADE4-C1D9FA682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D4FD38-14E5-4C36-B948-8BF3F794E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2005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08F2A-1C19-4116-80DF-E24EDDF28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A489A7-7CA6-4CC9-B634-FCB2E102C6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5F80D-1DB9-4E0A-8F68-924FC1C9C3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A4DA3-10C7-48A6-9B15-38222B8CA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84E7EE-5B3B-427E-9807-020AEF8C7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165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832104"/>
            <a:ext cx="10881360" cy="10698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984" y="2212848"/>
            <a:ext cx="10332720" cy="35478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29184" y="411480"/>
            <a:ext cx="521208" cy="3108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 b="0" i="0">
                <a:solidFill>
                  <a:schemeClr val="bg1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6344" y="6190488"/>
            <a:ext cx="233172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 b="0" i="0">
                <a:solidFill>
                  <a:schemeClr val="bg1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r>
              <a:rPr lang="en-US"/>
              <a:t>Crypto: investing &amp; trading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A4A2D6-617E-EEA3-E4EE-5BDB472F6A43}"/>
              </a:ext>
            </a:extLst>
          </p:cNvPr>
          <p:cNvCxnSpPr>
            <a:cxnSpLocks/>
          </p:cNvCxnSpPr>
          <p:nvPr userDrawn="1"/>
        </p:nvCxnSpPr>
        <p:spPr>
          <a:xfrm>
            <a:off x="594170" y="846661"/>
            <a:ext cx="0" cy="511101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70" r:id="rId7"/>
    <p:sldLayoutId id="2147483669" r:id="rId8"/>
    <p:sldLayoutId id="2147483653" r:id="rId9"/>
    <p:sldLayoutId id="2147483665" r:id="rId10"/>
    <p:sldLayoutId id="2147483666" r:id="rId11"/>
    <p:sldLayoutId id="2147483667" r:id="rId12"/>
    <p:sldLayoutId id="2147483668" r:id="rId13"/>
    <p:sldLayoutId id="2147483651" r:id="rId14"/>
    <p:sldLayoutId id="2147483652" r:id="rId15"/>
    <p:sldLayoutId id="2147483654" r:id="rId16"/>
    <p:sldLayoutId id="2147483655" r:id="rId17"/>
    <p:sldLayoutId id="2147483656" r:id="rId18"/>
    <p:sldLayoutId id="2147483657" r:id="rId1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cap="all" spc="6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347472" algn="l" defTabSz="914400" rtl="0" eaLnBrk="1" latinLnBrk="0" hangingPunct="1">
        <a:lnSpc>
          <a:spcPct val="90000"/>
        </a:lnSpc>
        <a:spcBef>
          <a:spcPts val="1000"/>
        </a:spcBef>
        <a:buClr>
          <a:schemeClr val="accent6"/>
        </a:buClr>
        <a:buFont typeface="Courier New" panose="02070309020205020404" pitchFamily="49" charset="0"/>
        <a:buChar char="o"/>
        <a:defRPr sz="2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1pPr>
      <a:lvl2pPr marL="6858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24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2pPr>
      <a:lvl3pPr marL="11430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20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3pPr>
      <a:lvl4pPr marL="16002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1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4pPr>
      <a:lvl5pPr marL="20574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1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70DB4-0446-EF22-E8E0-3A5B83923A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fontAlgn="base"/>
            <a:r>
              <a:rPr lang="en-US" b="0" noProof="0" dirty="0"/>
              <a:t>Running </a:t>
            </a:r>
            <a:r>
              <a:rPr lang="en-US" noProof="0" dirty="0"/>
              <a:t>Open WebUI </a:t>
            </a:r>
            <a:r>
              <a:rPr lang="en-US" b="0" noProof="0" dirty="0"/>
              <a:t>or </a:t>
            </a:r>
            <a:r>
              <a:rPr lang="en-US" noProof="0" dirty="0" err="1"/>
              <a:t>LibreChat</a:t>
            </a:r>
            <a:r>
              <a:rPr lang="en-US" b="0" noProof="0" dirty="0"/>
              <a:t> with </a:t>
            </a:r>
            <a:r>
              <a:rPr lang="en-US" noProof="0" dirty="0" err="1"/>
              <a:t>LiteLLM</a:t>
            </a:r>
            <a:r>
              <a:rPr lang="en-US" noProof="0" dirty="0"/>
              <a:t> Proxy</a:t>
            </a:r>
            <a:r>
              <a:rPr lang="en-US" b="0" noProof="0" dirty="0"/>
              <a:t> in Azure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6329B1-2D04-0F3A-1081-C5117D8CE1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0" dirty="0"/>
              <a:t>Melanie Bauer (software architects)</a:t>
            </a:r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23491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7EDCDDF7-BE18-911D-FD0A-719DEC7911A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noProof="0" smtClean="0"/>
              <a:pPr/>
              <a:t>2</a:t>
            </a:fld>
            <a:endParaRPr lang="en-US" noProof="0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52FAD555-7074-E50D-A89F-27AB9F6E0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About me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1B57B2DE-232A-681E-2AF2-0B1001BBF5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Melanie Bauer</a:t>
            </a:r>
          </a:p>
          <a:p>
            <a:r>
              <a:rPr lang="en-US" noProof="0" dirty="0"/>
              <a:t>Student at HTL </a:t>
            </a:r>
            <a:r>
              <a:rPr lang="en-US" noProof="0" dirty="0" err="1"/>
              <a:t>Leonding</a:t>
            </a:r>
            <a:r>
              <a:rPr lang="en-US" noProof="0" dirty="0"/>
              <a:t> (Upper Austria)</a:t>
            </a:r>
          </a:p>
          <a:p>
            <a:r>
              <a:rPr lang="en-US" noProof="0" dirty="0"/>
              <a:t>Technical Assistant at software architects</a:t>
            </a:r>
          </a:p>
        </p:txBody>
      </p:sp>
      <p:pic>
        <p:nvPicPr>
          <p:cNvPr id="7" name="Grafik 6" descr="The image depicts a person with long, dark hair, wearing a black dress, and a red lipstick.&#10;&#10;KI-generierte Inhalte können fehlerhaft sein.">
            <a:extLst>
              <a:ext uri="{FF2B5EF4-FFF2-40B4-BE49-F238E27FC236}">
                <a16:creationId xmlns:a16="http://schemas.microsoft.com/office/drawing/2014/main" id="{DE510EDC-FBDB-4355-3B9A-3C1DB13B9E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7122" y="746924"/>
            <a:ext cx="3948127" cy="4177444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014437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F0E99-07CC-9576-AFD7-C52151AD0E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088" y="1105554"/>
            <a:ext cx="7735824" cy="1069848"/>
          </a:xfrm>
        </p:spPr>
        <p:txBody>
          <a:bodyPr/>
          <a:lstStyle/>
          <a:p>
            <a:r>
              <a:rPr lang="en-US" noProof="0" dirty="0"/>
              <a:t>Why This Topic matters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82A8B0-333F-633E-3FA7-D38DBFB109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8088" y="2576413"/>
            <a:ext cx="7735824" cy="1702279"/>
          </a:xfrm>
        </p:spPr>
        <p:txBody>
          <a:bodyPr/>
          <a:lstStyle/>
          <a:p>
            <a:pPr algn="l"/>
            <a:r>
              <a:rPr lang="en-US" sz="2800" b="1" noProof="0" dirty="0"/>
              <a:t>A real-life example:</a:t>
            </a:r>
          </a:p>
          <a:p>
            <a:pPr marL="285750" indent="-285750" algn="l">
              <a:buFontTx/>
              <a:buChar char="-"/>
            </a:pPr>
            <a:r>
              <a:rPr lang="en-US" sz="2400" noProof="0" dirty="0"/>
              <a:t>1300 students</a:t>
            </a:r>
          </a:p>
          <a:p>
            <a:pPr marL="285750" indent="-285750" algn="l">
              <a:buFontTx/>
              <a:buChar char="-"/>
            </a:pPr>
            <a:r>
              <a:rPr lang="en-US" sz="2400" noProof="0" dirty="0"/>
              <a:t>100+ teachers</a:t>
            </a:r>
          </a:p>
          <a:p>
            <a:pPr marL="285750" indent="-285750" algn="l">
              <a:buFontTx/>
              <a:buChar char="-"/>
            </a:pPr>
            <a:r>
              <a:rPr lang="en-US" sz="2400" noProof="0" dirty="0"/>
              <a:t>Class-specific tutors</a:t>
            </a:r>
          </a:p>
          <a:p>
            <a:pPr marL="285750" indent="-285750" algn="l">
              <a:buFontTx/>
              <a:buChar char="-"/>
            </a:pPr>
            <a:r>
              <a:rPr lang="en-US" sz="2400" noProof="0" dirty="0"/>
              <a:t>School Entra ID login</a:t>
            </a:r>
          </a:p>
          <a:p>
            <a:pPr marL="285750" indent="-285750" algn="l">
              <a:buFontTx/>
              <a:buChar char="-"/>
            </a:pPr>
            <a:r>
              <a:rPr lang="en-US" sz="2400" noProof="0" dirty="0"/>
              <a:t>Central model gateway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303B57-FF55-B795-FAE7-5EF26BFCBEF3}"/>
              </a:ext>
            </a:extLst>
          </p:cNvPr>
          <p:cNvCxnSpPr>
            <a:cxnSpLocks/>
          </p:cNvCxnSpPr>
          <p:nvPr/>
        </p:nvCxnSpPr>
        <p:spPr>
          <a:xfrm rot="5400000">
            <a:off x="6115287" y="1538929"/>
            <a:ext cx="0" cy="16551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0759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990C3-510F-361A-4D71-EA32147E7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6866F-631F-234C-8F34-017EC4BF28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088" y="1004658"/>
            <a:ext cx="7735824" cy="1069848"/>
          </a:xfrm>
        </p:spPr>
        <p:txBody>
          <a:bodyPr/>
          <a:lstStyle/>
          <a:p>
            <a:r>
              <a:rPr lang="en-US" noProof="0" dirty="0"/>
              <a:t>Why This Topic matters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CAC657-F571-CFFB-91C4-3F98BE1A54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8088" y="2311556"/>
            <a:ext cx="7735824" cy="3044996"/>
          </a:xfrm>
        </p:spPr>
        <p:txBody>
          <a:bodyPr/>
          <a:lstStyle/>
          <a:p>
            <a:pPr algn="l"/>
            <a:r>
              <a:rPr lang="en-US" sz="2800" b="1" noProof="0" dirty="0"/>
              <a:t>What to avoid:</a:t>
            </a:r>
          </a:p>
          <a:p>
            <a:pPr marL="342900" indent="-342900" algn="l">
              <a:buFontTx/>
              <a:buChar char="-"/>
            </a:pPr>
            <a:r>
              <a:rPr lang="en-US" sz="2400" dirty="0"/>
              <a:t>Provider lock-in</a:t>
            </a:r>
          </a:p>
          <a:p>
            <a:pPr marL="342900" indent="-342900" algn="l">
              <a:buFontTx/>
              <a:buChar char="-"/>
            </a:pPr>
            <a:r>
              <a:rPr lang="en-US" sz="2400" dirty="0"/>
              <a:t>AI tool sprawl</a:t>
            </a:r>
          </a:p>
          <a:p>
            <a:pPr marL="342900" indent="-342900" algn="l">
              <a:buFontTx/>
              <a:buChar char="-"/>
            </a:pPr>
            <a:r>
              <a:rPr lang="en-US" sz="2400" noProof="0" dirty="0"/>
              <a:t>API Keys everywhere</a:t>
            </a:r>
          </a:p>
          <a:p>
            <a:pPr marL="342900" indent="-342900" algn="l">
              <a:buFontTx/>
              <a:buChar char="-"/>
            </a:pPr>
            <a:r>
              <a:rPr lang="en-US" sz="2400" noProof="0" dirty="0"/>
              <a:t>No shared budget model</a:t>
            </a:r>
          </a:p>
          <a:p>
            <a:pPr marL="342900" indent="-342900" algn="l">
              <a:buFontTx/>
              <a:buChar char="-"/>
            </a:pPr>
            <a:r>
              <a:rPr lang="en-US" sz="2400" noProof="0" dirty="0"/>
              <a:t>No reliable user attribution</a:t>
            </a:r>
          </a:p>
          <a:p>
            <a:pPr marL="342900" indent="-342900" algn="l">
              <a:buFontTx/>
              <a:buChar char="-"/>
            </a:pPr>
            <a:r>
              <a:rPr lang="en-US" sz="2400" dirty="0"/>
              <a:t>Lack of</a:t>
            </a:r>
            <a:r>
              <a:rPr lang="en-US" sz="2400" noProof="0" dirty="0"/>
              <a:t> consistent governance</a:t>
            </a:r>
          </a:p>
          <a:p>
            <a:pPr marL="342900" indent="-342900" algn="l">
              <a:buFontTx/>
              <a:buChar char="-"/>
            </a:pPr>
            <a:endParaRPr lang="en-US" sz="2400" b="1" noProof="0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18ABAF2-6216-86E3-D8BE-3F850FF98D8D}"/>
              </a:ext>
            </a:extLst>
          </p:cNvPr>
          <p:cNvCxnSpPr>
            <a:cxnSpLocks/>
          </p:cNvCxnSpPr>
          <p:nvPr/>
        </p:nvCxnSpPr>
        <p:spPr>
          <a:xfrm rot="5400000">
            <a:off x="6115287" y="1406502"/>
            <a:ext cx="0" cy="16551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4097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F0E26-9776-DC1B-8171-EE41FF922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BF49BDF6-FE31-7756-3A2F-D3E4F0B724A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noProof="0" smtClean="0"/>
              <a:pPr/>
              <a:t>5</a:t>
            </a:fld>
            <a:endParaRPr lang="en-US" noProof="0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48F2D926-29A4-D645-82DF-9DFE58EF3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Quality Criteria: </a:t>
            </a:r>
            <a:br>
              <a:rPr lang="en-US" noProof="0" dirty="0"/>
            </a:br>
            <a:r>
              <a:rPr lang="en-US" sz="3200" b="0" noProof="0" dirty="0"/>
              <a:t>What to watch out for</a:t>
            </a:r>
            <a:endParaRPr lang="en-US" b="0" noProof="0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0643A270-1762-BCC4-6F9A-A590F8C3B0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6192" y="1977057"/>
            <a:ext cx="8642026" cy="3282696"/>
          </a:xfrm>
        </p:spPr>
        <p:txBody>
          <a:bodyPr/>
          <a:lstStyle/>
          <a:p>
            <a:pPr>
              <a:buFontTx/>
              <a:buChar char="-"/>
            </a:pPr>
            <a:r>
              <a:rPr lang="en-US" noProof="0" dirty="0" err="1"/>
              <a:t>IaC</a:t>
            </a:r>
            <a:r>
              <a:rPr lang="en-US" noProof="0" dirty="0"/>
              <a:t> (here Bicep)</a:t>
            </a:r>
          </a:p>
          <a:p>
            <a:pPr>
              <a:buFontTx/>
              <a:buChar char="-"/>
            </a:pPr>
            <a:r>
              <a:rPr lang="en-US" dirty="0"/>
              <a:t>GDPR alignment with all models deployed on Azure</a:t>
            </a:r>
          </a:p>
          <a:p>
            <a:pPr>
              <a:buFontTx/>
              <a:buChar char="-"/>
            </a:pPr>
            <a:r>
              <a:rPr lang="en-US" dirty="0"/>
              <a:t>CI/CD for automated deployment (here GitHub Actions)</a:t>
            </a:r>
          </a:p>
          <a:p>
            <a:pPr>
              <a:buFontTx/>
              <a:buChar char="-"/>
            </a:pPr>
            <a:r>
              <a:rPr lang="en-US" dirty="0"/>
              <a:t>Two-step deployment for </a:t>
            </a:r>
            <a:r>
              <a:rPr lang="en-US" i="1" dirty="0"/>
              <a:t>User Assigned Managed Identity</a:t>
            </a:r>
          </a:p>
          <a:p>
            <a:pPr>
              <a:buFontTx/>
              <a:buChar char="-"/>
            </a:pPr>
            <a:r>
              <a:rPr lang="en-US" dirty="0"/>
              <a:t>Federated CI/CD authentication for GitHub </a:t>
            </a:r>
            <a:r>
              <a:rPr lang="en-US" dirty="0">
                <a:sym typeface="Wingdings" panose="05000000000000000000" pitchFamily="2" charset="2"/>
              </a:rPr>
              <a:t> Azure</a:t>
            </a:r>
            <a:endParaRPr lang="en-US" dirty="0"/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endParaRPr lang="en-US" noProof="0" dirty="0"/>
          </a:p>
          <a:p>
            <a:pPr>
              <a:buFontTx/>
              <a:buChar char="-"/>
            </a:pP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918107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310B5-D907-A977-7A9C-69F8BEB7BB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5329" y="2099336"/>
            <a:ext cx="10201341" cy="1069848"/>
          </a:xfrm>
        </p:spPr>
        <p:txBody>
          <a:bodyPr/>
          <a:lstStyle/>
          <a:p>
            <a:r>
              <a:rPr lang="en-US" noProof="0" dirty="0"/>
              <a:t>Let me introduce you to…</a:t>
            </a:r>
          </a:p>
        </p:txBody>
      </p:sp>
    </p:spTree>
    <p:extLst>
      <p:ext uri="{BB962C8B-B14F-4D97-AF65-F5344CB8AC3E}">
        <p14:creationId xmlns:p14="http://schemas.microsoft.com/office/powerpoint/2010/main" val="548476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8C40A650-2702-702A-C2D5-3F41AB42081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noProof="0" smtClean="0"/>
              <a:pPr/>
              <a:t>7</a:t>
            </a:fld>
            <a:endParaRPr lang="en-US" noProof="0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362D8799-8941-75D6-D64C-D86451232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Litellm</a:t>
            </a:r>
            <a:endParaRPr lang="en-US" noProof="0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4CFE5B1E-8EEC-841E-F399-875F38609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6192" y="1977057"/>
            <a:ext cx="6532382" cy="3282696"/>
          </a:xfrm>
        </p:spPr>
        <p:txBody>
          <a:bodyPr/>
          <a:lstStyle/>
          <a:p>
            <a:pPr marL="0" indent="0">
              <a:buNone/>
            </a:pPr>
            <a:r>
              <a:rPr lang="en-US" sz="2800" b="1" noProof="0" dirty="0" err="1"/>
              <a:t>LiteLLM</a:t>
            </a:r>
            <a:r>
              <a:rPr lang="en-US" sz="2800" b="1" noProof="0" dirty="0"/>
              <a:t> = AI gateway</a:t>
            </a:r>
          </a:p>
          <a:p>
            <a:r>
              <a:rPr lang="en-US" noProof="0" dirty="0"/>
              <a:t>OpenAI-compatible API</a:t>
            </a:r>
          </a:p>
          <a:p>
            <a:r>
              <a:rPr lang="en-US" noProof="0" dirty="0"/>
              <a:t>Routes to 100+ providers</a:t>
            </a:r>
          </a:p>
          <a:p>
            <a:r>
              <a:rPr lang="en-US" noProof="0" dirty="0"/>
              <a:t>Shields provider keys</a:t>
            </a:r>
          </a:p>
          <a:p>
            <a:r>
              <a:rPr lang="en-US" noProof="0" dirty="0"/>
              <a:t>Virtual keys and Teams</a:t>
            </a:r>
          </a:p>
          <a:p>
            <a:r>
              <a:rPr lang="en-US" noProof="0" dirty="0"/>
              <a:t>Spend, budgets, rate limits</a:t>
            </a:r>
          </a:p>
        </p:txBody>
      </p:sp>
    </p:spTree>
    <p:extLst>
      <p:ext uri="{BB962C8B-B14F-4D97-AF65-F5344CB8AC3E}">
        <p14:creationId xmlns:p14="http://schemas.microsoft.com/office/powerpoint/2010/main" val="9130355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8D5F4-7432-A0F0-2DD1-351E680E4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8A7CD5-CAB5-A1A8-2D46-29E5AEAB9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Litellm</a:t>
            </a:r>
            <a:endParaRPr lang="en-US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166B3ED-12C3-2FC2-E7FF-9C42F85FBCB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4400" b="1" noProof="0" dirty="0"/>
              <a:t>Pros</a:t>
            </a:r>
          </a:p>
          <a:p>
            <a:r>
              <a:rPr lang="en-US" sz="2400" noProof="0" dirty="0"/>
              <a:t>Central model gateway</a:t>
            </a:r>
          </a:p>
          <a:p>
            <a:r>
              <a:rPr lang="en-US" sz="2400" noProof="0" dirty="0"/>
              <a:t>Virtual-key access</a:t>
            </a:r>
          </a:p>
          <a:p>
            <a:r>
              <a:rPr lang="en-US" sz="2400" noProof="0" dirty="0"/>
              <a:t>Spend tracking</a:t>
            </a:r>
          </a:p>
          <a:p>
            <a:r>
              <a:rPr lang="en-US" sz="2400" noProof="0" dirty="0"/>
              <a:t>Budget and rate limits</a:t>
            </a:r>
          </a:p>
          <a:p>
            <a:r>
              <a:rPr lang="en-US" sz="2400" noProof="0" dirty="0"/>
              <a:t>Provider abstraction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F8FA24C-16BE-7E05-D5DD-488AE17DEFE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4400" b="1" noProof="0" dirty="0"/>
              <a:t>Watch-outs</a:t>
            </a:r>
            <a:endParaRPr lang="en-US" b="1" noProof="0" dirty="0"/>
          </a:p>
          <a:p>
            <a:pPr marL="358775" indent="-358775"/>
            <a:r>
              <a:rPr lang="en-US" sz="2400" noProof="0" dirty="0"/>
              <a:t>Becomes critical path</a:t>
            </a:r>
          </a:p>
          <a:p>
            <a:pPr marL="358775" indent="-358775"/>
            <a:r>
              <a:rPr lang="en-US" sz="2400" noProof="0" dirty="0"/>
              <a:t>Open WebUI and </a:t>
            </a:r>
            <a:r>
              <a:rPr lang="en-US" sz="2400" noProof="0" dirty="0" err="1"/>
              <a:t>LibreChat</a:t>
            </a:r>
            <a:r>
              <a:rPr lang="en-US" sz="2400" noProof="0" dirty="0"/>
              <a:t> users     only as customers</a:t>
            </a:r>
          </a:p>
          <a:p>
            <a:pPr marL="358775" indent="-358775"/>
            <a:r>
              <a:rPr lang="en-US" sz="2400" noProof="0" dirty="0"/>
              <a:t>Identity must be correctly forwarded</a:t>
            </a:r>
          </a:p>
          <a:p>
            <a:pPr marL="358775" indent="-358775"/>
            <a:r>
              <a:rPr lang="en-US" sz="2400" noProof="0" dirty="0"/>
              <a:t>Needs Postgres</a:t>
            </a:r>
          </a:p>
          <a:p>
            <a:pPr marL="358775" indent="-358775"/>
            <a:r>
              <a:rPr lang="en-US" sz="2400" noProof="0" dirty="0"/>
              <a:t>Budget behavior must be tested</a:t>
            </a:r>
          </a:p>
          <a:p>
            <a:pPr marL="358775" indent="-358775"/>
            <a:r>
              <a:rPr lang="en-US" sz="2400" noProof="0" dirty="0"/>
              <a:t>Another service to secure and upgrade</a:t>
            </a:r>
          </a:p>
          <a:p>
            <a:endParaRPr lang="en-US" sz="2400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81817B-A435-4651-166E-49A14911E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378864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4FA93-B507-3DA5-9F19-E12EDF01C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40BF560A-A13C-30BF-F0F3-A04FE6A5771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noProof="0" smtClean="0"/>
              <a:pPr/>
              <a:t>9</a:t>
            </a:fld>
            <a:endParaRPr lang="en-US" noProof="0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C4CF43A5-3A5B-B5BD-BE76-0C4233494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Open </a:t>
            </a:r>
            <a:r>
              <a:rPr lang="en-US" noProof="0" dirty="0" err="1"/>
              <a:t>webui</a:t>
            </a:r>
            <a:endParaRPr lang="en-US" noProof="0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6B6C3C33-F34B-3623-D353-61B9E5FB96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6192" y="1977057"/>
            <a:ext cx="6532382" cy="3282696"/>
          </a:xfrm>
        </p:spPr>
        <p:txBody>
          <a:bodyPr/>
          <a:lstStyle/>
          <a:p>
            <a:pPr marL="0" indent="0">
              <a:buNone/>
            </a:pPr>
            <a:r>
              <a:rPr lang="en-US" sz="2800" b="1" noProof="0" dirty="0"/>
              <a:t>Open WebUI = AI workbench</a:t>
            </a:r>
          </a:p>
          <a:p>
            <a:r>
              <a:rPr lang="en-US" noProof="0" dirty="0"/>
              <a:t>Models and Agents</a:t>
            </a:r>
          </a:p>
          <a:p>
            <a:r>
              <a:rPr lang="en-US" noProof="0" dirty="0"/>
              <a:t>Knowledge / RAG</a:t>
            </a:r>
          </a:p>
          <a:p>
            <a:r>
              <a:rPr lang="en-US" noProof="0" dirty="0"/>
              <a:t>Tools, Functions, MCP, </a:t>
            </a:r>
            <a:r>
              <a:rPr lang="en-US" noProof="0" dirty="0" err="1"/>
              <a:t>OpenAPI</a:t>
            </a:r>
            <a:endParaRPr lang="en-US" noProof="0" dirty="0"/>
          </a:p>
          <a:p>
            <a:r>
              <a:rPr lang="en-US" noProof="0" dirty="0"/>
              <a:t>Users, groups, RBAC</a:t>
            </a:r>
          </a:p>
          <a:p>
            <a:r>
              <a:rPr lang="en-US" noProof="0" dirty="0"/>
              <a:t>Strong admin UI</a:t>
            </a:r>
          </a:p>
        </p:txBody>
      </p:sp>
    </p:spTree>
    <p:extLst>
      <p:ext uri="{BB962C8B-B14F-4D97-AF65-F5344CB8AC3E}">
        <p14:creationId xmlns:p14="http://schemas.microsoft.com/office/powerpoint/2010/main" val="40973908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EA54A6-31C6-BAA1-CD05-A08FB7498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Open </a:t>
            </a:r>
            <a:r>
              <a:rPr lang="en-US" noProof="0" dirty="0" err="1"/>
              <a:t>webui</a:t>
            </a:r>
            <a:endParaRPr lang="en-US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60E2AB7-B3A4-2FC8-A98D-6DDCB762C4D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4400" b="1" noProof="0" dirty="0"/>
              <a:t>Pros</a:t>
            </a:r>
          </a:p>
          <a:p>
            <a:r>
              <a:rPr lang="en-US" sz="2400" noProof="0" dirty="0"/>
              <a:t>Integrated admin UI</a:t>
            </a:r>
          </a:p>
          <a:p>
            <a:r>
              <a:rPr lang="en-US" sz="2400" noProof="0" dirty="0"/>
              <a:t>Model presets as lightweight agents</a:t>
            </a:r>
          </a:p>
          <a:p>
            <a:r>
              <a:rPr lang="en-US" sz="2400" noProof="0" dirty="0"/>
              <a:t>Knowledge, tools, functions</a:t>
            </a:r>
          </a:p>
          <a:p>
            <a:r>
              <a:rPr lang="en-US" sz="2400" noProof="0" dirty="0"/>
              <a:t>MCP and </a:t>
            </a:r>
            <a:r>
              <a:rPr lang="en-US" sz="2400" noProof="0" dirty="0" err="1"/>
              <a:t>OpenAPI</a:t>
            </a:r>
            <a:r>
              <a:rPr lang="en-US" sz="2400" noProof="0" dirty="0"/>
              <a:t> integrations</a:t>
            </a:r>
          </a:p>
          <a:p>
            <a:r>
              <a:rPr lang="en-US" sz="2400" noProof="0" dirty="0"/>
              <a:t>RBAC, groups, SSO/OIDC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1C5CFED-1C9C-980F-DED3-096F6BA9917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4400" b="1" noProof="0" dirty="0"/>
              <a:t>Watch-outs</a:t>
            </a:r>
            <a:endParaRPr lang="en-US" b="1" noProof="0" dirty="0"/>
          </a:p>
          <a:p>
            <a:r>
              <a:rPr lang="en-US" sz="2400" noProof="0" dirty="0"/>
              <a:t>Persistent config can surprise CI/CD</a:t>
            </a:r>
          </a:p>
          <a:p>
            <a:r>
              <a:rPr lang="en-US" sz="2400" noProof="0" dirty="0"/>
              <a:t>Native MCP is </a:t>
            </a:r>
            <a:r>
              <a:rPr lang="en-US" sz="2400" noProof="0" dirty="0" err="1"/>
              <a:t>Streamable</a:t>
            </a:r>
            <a:r>
              <a:rPr lang="en-US" sz="2400" noProof="0" dirty="0"/>
              <a:t> HTTP only</a:t>
            </a:r>
          </a:p>
          <a:p>
            <a:r>
              <a:rPr lang="en-US" sz="2400" noProof="0" dirty="0"/>
              <a:t>Admin role is very high-trust</a:t>
            </a:r>
          </a:p>
          <a:p>
            <a:r>
              <a:rPr lang="en-US" sz="2400" noProof="0" dirty="0"/>
              <a:t>Branding / license rules matter</a:t>
            </a:r>
          </a:p>
          <a:p>
            <a:r>
              <a:rPr lang="en-US" sz="2400" noProof="0" dirty="0"/>
              <a:t>Still needs </a:t>
            </a:r>
            <a:r>
              <a:rPr lang="en-US" sz="2400" noProof="0" dirty="0" err="1"/>
              <a:t>LiteLLM</a:t>
            </a:r>
            <a:r>
              <a:rPr lang="en-US" sz="2400" noProof="0" dirty="0"/>
              <a:t> for central budgets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E7BAEEF-8E9E-E2C7-2F5A-FC86D1B56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noProof="0" smtClean="0"/>
              <a:t>10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463182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726DB-7AF1-E697-363C-49AD59E40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AEB9B3EF-08C9-8091-F7A2-CBBCD4114B4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noProof="0" smtClean="0"/>
              <a:pPr/>
              <a:t>11</a:t>
            </a:fld>
            <a:endParaRPr lang="en-US" noProof="0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1C80D72E-3603-9B3F-F136-083C2D02E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6192" y="676827"/>
            <a:ext cx="8878824" cy="1069848"/>
          </a:xfrm>
        </p:spPr>
        <p:txBody>
          <a:bodyPr/>
          <a:lstStyle/>
          <a:p>
            <a:r>
              <a:rPr lang="en-US" noProof="0" dirty="0" err="1"/>
              <a:t>Librechat</a:t>
            </a:r>
            <a:endParaRPr lang="en-US" noProof="0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EA98DF5B-70F8-6230-2C5B-8E338A6723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6192" y="1839033"/>
            <a:ext cx="6532382" cy="3282696"/>
          </a:xfrm>
        </p:spPr>
        <p:txBody>
          <a:bodyPr/>
          <a:lstStyle/>
          <a:p>
            <a:pPr marL="0" indent="0">
              <a:buNone/>
            </a:pPr>
            <a:r>
              <a:rPr lang="en-US" sz="2800" b="1" noProof="0" dirty="0" err="1"/>
              <a:t>LibreChat</a:t>
            </a:r>
            <a:r>
              <a:rPr lang="en-US" sz="2800" b="1" noProof="0" dirty="0"/>
              <a:t> = ChatGPT-like product</a:t>
            </a:r>
          </a:p>
          <a:p>
            <a:r>
              <a:rPr lang="en-US" noProof="0" dirty="0"/>
              <a:t>ChatGPT-style workflow UI</a:t>
            </a:r>
          </a:p>
          <a:p>
            <a:r>
              <a:rPr lang="en-US" noProof="0" dirty="0"/>
              <a:t>Agents and tools</a:t>
            </a:r>
          </a:p>
          <a:p>
            <a:r>
              <a:rPr lang="en-US" noProof="0" dirty="0"/>
              <a:t>MCP integration</a:t>
            </a:r>
          </a:p>
          <a:p>
            <a:r>
              <a:rPr lang="en-US" noProof="0" dirty="0"/>
              <a:t>Artifacts and code interpreter</a:t>
            </a:r>
          </a:p>
          <a:p>
            <a:r>
              <a:rPr lang="en-US" noProof="0" dirty="0"/>
              <a:t>Strong config model</a:t>
            </a:r>
          </a:p>
        </p:txBody>
      </p:sp>
    </p:spTree>
    <p:extLst>
      <p:ext uri="{BB962C8B-B14F-4D97-AF65-F5344CB8AC3E}">
        <p14:creationId xmlns:p14="http://schemas.microsoft.com/office/powerpoint/2010/main" val="26996383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3E367-CDBF-C27C-737B-0A0CFEBE7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6AE264-98CA-356C-DA6D-412849D8C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Librechat</a:t>
            </a:r>
            <a:endParaRPr lang="en-US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99714A3-E3A9-13BD-A3E0-3A78F89DBF9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4400" b="1" noProof="0" dirty="0"/>
              <a:t>Pros</a:t>
            </a:r>
          </a:p>
          <a:p>
            <a:r>
              <a:rPr lang="en-US" sz="2400" noProof="0" dirty="0"/>
              <a:t>ChatGPT-style workflow UI</a:t>
            </a:r>
          </a:p>
          <a:p>
            <a:r>
              <a:rPr lang="en-US" sz="2400" noProof="0" dirty="0"/>
              <a:t>Explicit Agent Builder</a:t>
            </a:r>
          </a:p>
          <a:p>
            <a:r>
              <a:rPr lang="en-US" sz="2400" noProof="0" dirty="0"/>
              <a:t>MCP in chat and agents</a:t>
            </a:r>
          </a:p>
          <a:p>
            <a:r>
              <a:rPr lang="en-US" sz="2400" noProof="0" dirty="0"/>
              <a:t>MIT licensed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F7FC755-5E01-D0D5-014B-BC954A641E9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4400" b="1" noProof="0" dirty="0"/>
              <a:t>Watch-outs</a:t>
            </a:r>
            <a:endParaRPr lang="en-US" b="1" noProof="0" dirty="0"/>
          </a:p>
          <a:p>
            <a:r>
              <a:rPr lang="en-US" sz="2400" noProof="0" dirty="0"/>
              <a:t>More services to operate</a:t>
            </a:r>
          </a:p>
          <a:p>
            <a:r>
              <a:rPr lang="en-US" sz="2400" noProof="0" dirty="0" err="1"/>
              <a:t>LiteLLM</a:t>
            </a:r>
            <a:r>
              <a:rPr lang="en-US" sz="2400" noProof="0" dirty="0"/>
              <a:t> key is YAML/env config</a:t>
            </a:r>
          </a:p>
          <a:p>
            <a:r>
              <a:rPr lang="en-US" sz="2400" noProof="0" dirty="0"/>
              <a:t>Very config-heavy on its own</a:t>
            </a:r>
          </a:p>
          <a:p>
            <a:r>
              <a:rPr lang="en-US" sz="2400" noProof="0" dirty="0"/>
              <a:t>Config changes often need restart</a:t>
            </a:r>
          </a:p>
          <a:p>
            <a:r>
              <a:rPr lang="en-US" sz="2400" noProof="0" dirty="0"/>
              <a:t>Admin Panel is separate / Preview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CB9BEC1-867E-6865-A776-3F60D8221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noProof="0" smtClean="0"/>
              <a:t>12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094334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A6BAD-3923-3F8A-0C2B-1168C6C50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59153C-74E6-E640-02B6-4273B4026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Open WebUI vs. </a:t>
            </a:r>
            <a:r>
              <a:rPr lang="en-US" noProof="0" dirty="0" err="1"/>
              <a:t>Librechat</a:t>
            </a:r>
            <a:endParaRPr lang="en-US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F23C20B-7A43-229B-A79E-1C6BFFFFEA1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4400" b="1" noProof="0" dirty="0"/>
              <a:t>Open WebUI</a:t>
            </a:r>
            <a:endParaRPr lang="en-US" sz="2400" noProof="0" dirty="0"/>
          </a:p>
          <a:p>
            <a:pPr>
              <a:spcBef>
                <a:spcPts val="1800"/>
              </a:spcBef>
            </a:pPr>
            <a:r>
              <a:rPr lang="en-US" sz="2400" noProof="0" dirty="0"/>
              <a:t>Better for admin-driven workbench demos</a:t>
            </a:r>
          </a:p>
          <a:p>
            <a:pPr>
              <a:spcBef>
                <a:spcPts val="1800"/>
              </a:spcBef>
            </a:pPr>
            <a:r>
              <a:rPr lang="en-US" sz="2400" noProof="0" dirty="0"/>
              <a:t>More integrated admin configuration</a:t>
            </a:r>
          </a:p>
          <a:p>
            <a:pPr>
              <a:spcBef>
                <a:spcPts val="1800"/>
              </a:spcBef>
            </a:pPr>
            <a:r>
              <a:rPr lang="en-US" sz="2400" noProof="0" dirty="0"/>
              <a:t>Models, knowledge, tools and RBAC visible in UI</a:t>
            </a:r>
          </a:p>
          <a:p>
            <a:pPr>
              <a:spcBef>
                <a:spcPts val="1800"/>
              </a:spcBef>
            </a:pPr>
            <a:r>
              <a:rPr lang="en-US" sz="2400" noProof="0" dirty="0"/>
              <a:t>External tools via MCP, </a:t>
            </a:r>
            <a:r>
              <a:rPr lang="en-US" sz="2400" noProof="0" dirty="0" err="1"/>
              <a:t>OpenAPI</a:t>
            </a:r>
            <a:r>
              <a:rPr lang="en-US" sz="2400" noProof="0" dirty="0"/>
              <a:t> or built-in tools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6A276BB-BEEB-ABC1-F04F-6C850AE982F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4400" b="1" noProof="0" dirty="0" err="1"/>
              <a:t>LibreChat</a:t>
            </a:r>
            <a:endParaRPr lang="en-US" sz="2400" noProof="0" dirty="0"/>
          </a:p>
          <a:p>
            <a:pPr>
              <a:spcBef>
                <a:spcPts val="1800"/>
              </a:spcBef>
            </a:pPr>
            <a:r>
              <a:rPr lang="en-US" sz="2400" noProof="0" dirty="0"/>
              <a:t>Better for ChatGPT-style agent workflows</a:t>
            </a:r>
          </a:p>
          <a:p>
            <a:pPr>
              <a:spcBef>
                <a:spcPts val="1800"/>
              </a:spcBef>
            </a:pPr>
            <a:r>
              <a:rPr lang="en-US" sz="2400" noProof="0" dirty="0"/>
              <a:t>Explicit Agent Builder and strong MCP workflow</a:t>
            </a:r>
          </a:p>
          <a:p>
            <a:pPr>
              <a:spcBef>
                <a:spcPts val="1800"/>
              </a:spcBef>
            </a:pPr>
            <a:r>
              <a:rPr lang="en-US" sz="2400" noProof="0" dirty="0"/>
              <a:t>Good custom endpoint model for </a:t>
            </a:r>
            <a:r>
              <a:rPr lang="en-US" sz="2400" noProof="0" dirty="0" err="1"/>
              <a:t>LiteLLM</a:t>
            </a:r>
            <a:endParaRPr lang="en-US" sz="2400" noProof="0" dirty="0"/>
          </a:p>
          <a:p>
            <a:pPr>
              <a:spcBef>
                <a:spcPts val="1800"/>
              </a:spcBef>
            </a:pPr>
            <a:r>
              <a:rPr lang="en-US" sz="2400" noProof="0" dirty="0"/>
              <a:t>More config files and supporting services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4377D6C-1416-1745-5008-501A2794C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noProof="0" smtClean="0"/>
              <a:t>13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549993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3C940-198B-8DBF-64C9-FD9A4CA2C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DCD2E265-C359-3EAA-5EE9-F32862C0E9A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noProof="0" smtClean="0"/>
              <a:pPr/>
              <a:t>14</a:t>
            </a:fld>
            <a:endParaRPr lang="en-US" noProof="0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54111834-523C-DB53-E528-FDE01DA6D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6192" y="308763"/>
            <a:ext cx="9706902" cy="1069848"/>
          </a:xfrm>
        </p:spPr>
        <p:txBody>
          <a:bodyPr/>
          <a:lstStyle/>
          <a:p>
            <a:r>
              <a:rPr lang="en-US" noProof="0" dirty="0"/>
              <a:t>Architecture for this Demo</a:t>
            </a: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90390420-42DE-0B93-CBC4-EAD392AF56CD}"/>
              </a:ext>
            </a:extLst>
          </p:cNvPr>
          <p:cNvSpPr/>
          <p:nvPr/>
        </p:nvSpPr>
        <p:spPr>
          <a:xfrm>
            <a:off x="3841628" y="1863309"/>
            <a:ext cx="1653397" cy="937404"/>
          </a:xfrm>
          <a:prstGeom prst="roundRect">
            <a:avLst/>
          </a:prstGeom>
          <a:solidFill>
            <a:schemeClr val="accent4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/>
              <a:t>Open WebUI</a:t>
            </a:r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774AFF0A-119B-8724-6E02-0D773D2E3CDC}"/>
              </a:ext>
            </a:extLst>
          </p:cNvPr>
          <p:cNvSpPr/>
          <p:nvPr/>
        </p:nvSpPr>
        <p:spPr>
          <a:xfrm>
            <a:off x="3841628" y="3304640"/>
            <a:ext cx="1653397" cy="996350"/>
          </a:xfrm>
          <a:prstGeom prst="roundRect">
            <a:avLst/>
          </a:prstGeom>
          <a:solidFill>
            <a:schemeClr val="accent4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 err="1"/>
              <a:t>LibreChat</a:t>
            </a:r>
            <a:endParaRPr lang="en-US" sz="2400" b="1" noProof="0" dirty="0"/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1D89FA55-F84A-329D-1B42-9664FCAC71FD}"/>
              </a:ext>
            </a:extLst>
          </p:cNvPr>
          <p:cNvSpPr/>
          <p:nvPr/>
        </p:nvSpPr>
        <p:spPr>
          <a:xfrm>
            <a:off x="3841628" y="4804917"/>
            <a:ext cx="1653397" cy="1069848"/>
          </a:xfrm>
          <a:prstGeom prst="roundRect">
            <a:avLst/>
          </a:prstGeom>
          <a:solidFill>
            <a:schemeClr val="accent4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 err="1"/>
              <a:t>LibreChat</a:t>
            </a:r>
            <a:r>
              <a:rPr lang="en-US" sz="2400" b="1" noProof="0" dirty="0"/>
              <a:t> Admin</a:t>
            </a: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622F3CEB-82D8-3F22-4722-AD8E6838CCF0}"/>
              </a:ext>
            </a:extLst>
          </p:cNvPr>
          <p:cNvSpPr/>
          <p:nvPr/>
        </p:nvSpPr>
        <p:spPr>
          <a:xfrm>
            <a:off x="6696975" y="3388747"/>
            <a:ext cx="1521125" cy="828136"/>
          </a:xfrm>
          <a:prstGeom prst="roundRect">
            <a:avLst/>
          </a:prstGeom>
          <a:solidFill>
            <a:schemeClr val="accent5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 err="1"/>
              <a:t>LiteLLM</a:t>
            </a:r>
            <a:endParaRPr lang="en-US" sz="2400" b="1" noProof="0" dirty="0"/>
          </a:p>
        </p:txBody>
      </p:sp>
    </p:spTree>
    <p:extLst>
      <p:ext uri="{BB962C8B-B14F-4D97-AF65-F5344CB8AC3E}">
        <p14:creationId xmlns:p14="http://schemas.microsoft.com/office/powerpoint/2010/main" val="15795555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5E754-1677-0C1C-B0A7-02BDFF2CF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9B9E583D-BFCD-3468-3579-BD336AF5B8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noProof="0" smtClean="0"/>
              <a:pPr/>
              <a:t>15</a:t>
            </a:fld>
            <a:endParaRPr lang="en-US" noProof="0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520AB23D-72EA-8075-10C9-14B501E38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6192" y="308763"/>
            <a:ext cx="9706902" cy="1069848"/>
          </a:xfrm>
        </p:spPr>
        <p:txBody>
          <a:bodyPr/>
          <a:lstStyle/>
          <a:p>
            <a:r>
              <a:rPr lang="en-US" noProof="0" dirty="0"/>
              <a:t>Architecture for this Demo</a:t>
            </a: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0395D7E3-B5BA-EA2D-FBE0-0A342A9F264D}"/>
              </a:ext>
            </a:extLst>
          </p:cNvPr>
          <p:cNvSpPr/>
          <p:nvPr/>
        </p:nvSpPr>
        <p:spPr>
          <a:xfrm>
            <a:off x="3841628" y="1863309"/>
            <a:ext cx="1653397" cy="937404"/>
          </a:xfrm>
          <a:prstGeom prst="roundRect">
            <a:avLst/>
          </a:prstGeom>
          <a:solidFill>
            <a:schemeClr val="accent4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/>
              <a:t>Open WebUI</a:t>
            </a:r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F4D3920A-925F-E06B-4501-34EB1EC9A7D0}"/>
              </a:ext>
            </a:extLst>
          </p:cNvPr>
          <p:cNvSpPr/>
          <p:nvPr/>
        </p:nvSpPr>
        <p:spPr>
          <a:xfrm>
            <a:off x="3841628" y="3304640"/>
            <a:ext cx="1653397" cy="996350"/>
          </a:xfrm>
          <a:prstGeom prst="roundRect">
            <a:avLst/>
          </a:prstGeom>
          <a:solidFill>
            <a:schemeClr val="accent4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 err="1"/>
              <a:t>LibreChat</a:t>
            </a:r>
            <a:endParaRPr lang="en-US" sz="2400" b="1" noProof="0" dirty="0"/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B30576D6-DD37-CAC5-544C-22203C9B9629}"/>
              </a:ext>
            </a:extLst>
          </p:cNvPr>
          <p:cNvSpPr/>
          <p:nvPr/>
        </p:nvSpPr>
        <p:spPr>
          <a:xfrm>
            <a:off x="3841628" y="5236870"/>
            <a:ext cx="1653397" cy="1069848"/>
          </a:xfrm>
          <a:prstGeom prst="roundRect">
            <a:avLst/>
          </a:prstGeom>
          <a:solidFill>
            <a:schemeClr val="accent4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 err="1"/>
              <a:t>LibreChat</a:t>
            </a:r>
            <a:r>
              <a:rPr lang="en-US" sz="2400" b="1" noProof="0" dirty="0"/>
              <a:t> Admin</a:t>
            </a:r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F900A547-B3B0-58F8-566E-3C3352BED124}"/>
              </a:ext>
            </a:extLst>
          </p:cNvPr>
          <p:cNvSpPr/>
          <p:nvPr/>
        </p:nvSpPr>
        <p:spPr>
          <a:xfrm>
            <a:off x="1052415" y="3132830"/>
            <a:ext cx="1653397" cy="1339970"/>
          </a:xfrm>
          <a:prstGeom prst="roundRect">
            <a:avLst/>
          </a:prstGeom>
          <a:solidFill>
            <a:schemeClr val="accent3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/>
              <a:t>OpenID provider</a:t>
            </a:r>
            <a:br>
              <a:rPr lang="en-US" sz="2400" noProof="0" dirty="0"/>
            </a:br>
            <a:r>
              <a:rPr lang="en-US" sz="2000" noProof="0" dirty="0"/>
              <a:t>(Entra ID)</a:t>
            </a:r>
            <a:endParaRPr lang="en-US" sz="2400" noProof="0" dirty="0"/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755DAABD-CE80-7685-38B1-EC35B5ED6881}"/>
              </a:ext>
            </a:extLst>
          </p:cNvPr>
          <p:cNvSpPr/>
          <p:nvPr/>
        </p:nvSpPr>
        <p:spPr>
          <a:xfrm>
            <a:off x="6696975" y="3388747"/>
            <a:ext cx="1521125" cy="828136"/>
          </a:xfrm>
          <a:prstGeom prst="roundRect">
            <a:avLst/>
          </a:prstGeom>
          <a:solidFill>
            <a:schemeClr val="accent5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 err="1"/>
              <a:t>LiteLLM</a:t>
            </a:r>
            <a:endParaRPr lang="en-US" sz="2400" b="1" noProof="0" dirty="0"/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CFFF8A6D-601B-A8E9-CCFA-0BC94F680BD4}"/>
              </a:ext>
            </a:extLst>
          </p:cNvPr>
          <p:cNvSpPr/>
          <p:nvPr/>
        </p:nvSpPr>
        <p:spPr>
          <a:xfrm>
            <a:off x="9420054" y="3185307"/>
            <a:ext cx="2311881" cy="1235016"/>
          </a:xfrm>
          <a:prstGeom prst="roundRect">
            <a:avLst/>
          </a:prstGeom>
          <a:solidFill>
            <a:schemeClr val="accent6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/>
              <a:t>LLM provider</a:t>
            </a:r>
          </a:p>
          <a:p>
            <a:pPr algn="ctr"/>
            <a:r>
              <a:rPr lang="en-US" sz="2000" noProof="0" dirty="0"/>
              <a:t>(Azure OpenAI)</a:t>
            </a:r>
            <a:endParaRPr lang="en-US" sz="2400" noProof="0" dirty="0"/>
          </a:p>
        </p:txBody>
      </p: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38E0D7BD-9AB9-494F-2E43-D968951EDAB4}"/>
              </a:ext>
            </a:extLst>
          </p:cNvPr>
          <p:cNvCxnSpPr>
            <a:cxnSpLocks/>
            <a:stCxn id="3" idx="3"/>
            <a:endCxn id="9" idx="1"/>
          </p:cNvCxnSpPr>
          <p:nvPr/>
        </p:nvCxnSpPr>
        <p:spPr>
          <a:xfrm>
            <a:off x="5495025" y="2332011"/>
            <a:ext cx="1201950" cy="1470804"/>
          </a:xfrm>
          <a:prstGeom prst="straightConnector1">
            <a:avLst/>
          </a:prstGeom>
          <a:ln w="38100">
            <a:solidFill>
              <a:schemeClr val="accent4">
                <a:lumMod val="9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41B59D4B-C69C-D753-87EA-DBDF6294C26B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>
            <a:off x="5495025" y="3802815"/>
            <a:ext cx="1201950" cy="0"/>
          </a:xfrm>
          <a:prstGeom prst="straightConnector1">
            <a:avLst/>
          </a:prstGeom>
          <a:ln w="38100">
            <a:solidFill>
              <a:schemeClr val="accent4">
                <a:lumMod val="9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ABCDAEFA-A240-2E39-7031-8F947954037E}"/>
              </a:ext>
            </a:extLst>
          </p:cNvPr>
          <p:cNvCxnSpPr>
            <a:cxnSpLocks/>
            <a:stCxn id="8" idx="3"/>
            <a:endCxn id="3" idx="1"/>
          </p:cNvCxnSpPr>
          <p:nvPr/>
        </p:nvCxnSpPr>
        <p:spPr>
          <a:xfrm flipV="1">
            <a:off x="2705812" y="2332011"/>
            <a:ext cx="1135816" cy="1470804"/>
          </a:xfrm>
          <a:prstGeom prst="straightConnector1">
            <a:avLst/>
          </a:prstGeom>
          <a:ln w="38100">
            <a:solidFill>
              <a:schemeClr val="accent3">
                <a:lumMod val="9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F20DC8A3-BF80-65D9-046D-EB19A0FE99D3}"/>
              </a:ext>
            </a:extLst>
          </p:cNvPr>
          <p:cNvCxnSpPr>
            <a:cxnSpLocks/>
            <a:stCxn id="8" idx="3"/>
            <a:endCxn id="6" idx="1"/>
          </p:cNvCxnSpPr>
          <p:nvPr/>
        </p:nvCxnSpPr>
        <p:spPr>
          <a:xfrm>
            <a:off x="2705812" y="3802815"/>
            <a:ext cx="1135816" cy="0"/>
          </a:xfrm>
          <a:prstGeom prst="straightConnector1">
            <a:avLst/>
          </a:prstGeom>
          <a:ln w="38100">
            <a:solidFill>
              <a:schemeClr val="accent3">
                <a:lumMod val="9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A87C8C47-9BFD-FD34-164B-AC4DE33345DB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4668327" y="4300990"/>
            <a:ext cx="0" cy="935880"/>
          </a:xfrm>
          <a:prstGeom prst="straightConnector1">
            <a:avLst/>
          </a:prstGeom>
          <a:ln w="38100">
            <a:solidFill>
              <a:schemeClr val="accent3">
                <a:lumMod val="9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feld 40">
            <a:extLst>
              <a:ext uri="{FF2B5EF4-FFF2-40B4-BE49-F238E27FC236}">
                <a16:creationId xmlns:a16="http://schemas.microsoft.com/office/drawing/2014/main" id="{4AB3284B-067B-F05B-28D8-A6A7D43F4BCF}"/>
              </a:ext>
            </a:extLst>
          </p:cNvPr>
          <p:cNvSpPr txBox="1"/>
          <p:nvPr/>
        </p:nvSpPr>
        <p:spPr>
          <a:xfrm>
            <a:off x="5555413" y="5333744"/>
            <a:ext cx="26626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noProof="0" dirty="0">
                <a:solidFill>
                  <a:schemeClr val="bg1"/>
                </a:solidFill>
                <a:cs typeface="Segoe UI" panose="020B0502040204020203" pitchFamily="34" charset="0"/>
              </a:rPr>
              <a:t>Goes over </a:t>
            </a:r>
            <a:r>
              <a:rPr lang="en-US" sz="2000" noProof="0" dirty="0" err="1">
                <a:solidFill>
                  <a:schemeClr val="bg1"/>
                </a:solidFill>
                <a:cs typeface="Segoe UI" panose="020B0502040204020203" pitchFamily="34" charset="0"/>
              </a:rPr>
              <a:t>LibreChat</a:t>
            </a:r>
            <a:r>
              <a:rPr lang="en-US" sz="2000" noProof="0" dirty="0">
                <a:solidFill>
                  <a:schemeClr val="bg1"/>
                </a:solidFill>
                <a:cs typeface="Segoe UI" panose="020B0502040204020203" pitchFamily="34" charset="0"/>
              </a:rPr>
              <a:t> for SSO</a:t>
            </a:r>
          </a:p>
        </p:txBody>
      </p: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4CCA6406-697C-038B-5491-0D4D2679107D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8218100" y="3802815"/>
            <a:ext cx="1201954" cy="0"/>
          </a:xfrm>
          <a:prstGeom prst="straightConnector1">
            <a:avLst/>
          </a:prstGeom>
          <a:ln w="38100">
            <a:solidFill>
              <a:schemeClr val="accent5">
                <a:lumMod val="9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46249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4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791F8-BBB9-2DC9-2EF1-9814243F8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A63E3907-4B82-E7AA-A027-ED89292C24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noProof="0" smtClean="0"/>
              <a:pPr/>
              <a:t>16</a:t>
            </a:fld>
            <a:endParaRPr lang="en-US" noProof="0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D2A175F1-204B-459D-A330-E3A7D67B9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6192" y="308763"/>
            <a:ext cx="9706902" cy="1069848"/>
          </a:xfrm>
        </p:spPr>
        <p:txBody>
          <a:bodyPr/>
          <a:lstStyle/>
          <a:p>
            <a:r>
              <a:rPr lang="en-US" noProof="0" dirty="0"/>
              <a:t>Architecture for this Demo</a:t>
            </a: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0E1CB3CD-6319-715A-EE1B-EFB49CE01B0B}"/>
              </a:ext>
            </a:extLst>
          </p:cNvPr>
          <p:cNvSpPr/>
          <p:nvPr/>
        </p:nvSpPr>
        <p:spPr>
          <a:xfrm>
            <a:off x="5254920" y="2729876"/>
            <a:ext cx="1653397" cy="937404"/>
          </a:xfrm>
          <a:prstGeom prst="roundRect">
            <a:avLst/>
          </a:prstGeom>
          <a:solidFill>
            <a:schemeClr val="accent4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/>
              <a:t>Open WebUI</a:t>
            </a:r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D66D3717-0D29-9F55-B712-DECD4296500C}"/>
              </a:ext>
            </a:extLst>
          </p:cNvPr>
          <p:cNvSpPr/>
          <p:nvPr/>
        </p:nvSpPr>
        <p:spPr>
          <a:xfrm>
            <a:off x="5254920" y="3953900"/>
            <a:ext cx="1653397" cy="996350"/>
          </a:xfrm>
          <a:prstGeom prst="roundRect">
            <a:avLst/>
          </a:prstGeom>
          <a:solidFill>
            <a:schemeClr val="accent4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 err="1"/>
              <a:t>LibreChat</a:t>
            </a:r>
            <a:endParaRPr lang="en-US" sz="2400" b="1" noProof="0" dirty="0"/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BB6003BD-7C4D-6815-0FC5-7B527CE72F72}"/>
              </a:ext>
            </a:extLst>
          </p:cNvPr>
          <p:cNvSpPr/>
          <p:nvPr/>
        </p:nvSpPr>
        <p:spPr>
          <a:xfrm>
            <a:off x="5254920" y="5236870"/>
            <a:ext cx="1653397" cy="1069848"/>
          </a:xfrm>
          <a:prstGeom prst="roundRect">
            <a:avLst/>
          </a:prstGeom>
          <a:solidFill>
            <a:schemeClr val="accent4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 err="1"/>
              <a:t>LibreChat</a:t>
            </a:r>
            <a:r>
              <a:rPr lang="en-US" sz="2400" b="1" noProof="0" dirty="0"/>
              <a:t> Admin</a:t>
            </a:r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CB45BBB3-9510-91E4-7EB6-3AA3C78701DF}"/>
              </a:ext>
            </a:extLst>
          </p:cNvPr>
          <p:cNvSpPr/>
          <p:nvPr/>
        </p:nvSpPr>
        <p:spPr>
          <a:xfrm>
            <a:off x="2432282" y="3307964"/>
            <a:ext cx="1653397" cy="937404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/>
              <a:t>Redis</a:t>
            </a:r>
            <a:endParaRPr lang="en-US" sz="2400" noProof="0" dirty="0"/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9F000A1E-D6DC-7AF9-C4E8-CAAACB9CDAE1}"/>
              </a:ext>
            </a:extLst>
          </p:cNvPr>
          <p:cNvSpPr/>
          <p:nvPr/>
        </p:nvSpPr>
        <p:spPr>
          <a:xfrm>
            <a:off x="5271456" y="1505852"/>
            <a:ext cx="1653397" cy="937404"/>
          </a:xfrm>
          <a:prstGeom prst="roundRect">
            <a:avLst/>
          </a:prstGeom>
          <a:solidFill>
            <a:schemeClr val="accent5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 err="1"/>
              <a:t>LiteLLM</a:t>
            </a:r>
            <a:endParaRPr lang="en-US" sz="2400" b="1" noProof="0" dirty="0"/>
          </a:p>
        </p:txBody>
      </p:sp>
      <p:sp>
        <p:nvSpPr>
          <p:cNvPr id="20" name="Rechteck: abgerundete Ecken 19">
            <a:extLst>
              <a:ext uri="{FF2B5EF4-FFF2-40B4-BE49-F238E27FC236}">
                <a16:creationId xmlns:a16="http://schemas.microsoft.com/office/drawing/2014/main" id="{9A414AC7-88A9-6DBB-1AD5-147FC1628B22}"/>
              </a:ext>
            </a:extLst>
          </p:cNvPr>
          <p:cNvSpPr/>
          <p:nvPr/>
        </p:nvSpPr>
        <p:spPr>
          <a:xfrm>
            <a:off x="2432282" y="2089752"/>
            <a:ext cx="1653397" cy="937404"/>
          </a:xfrm>
          <a:prstGeom prst="roundRect">
            <a:avLst/>
          </a:prstGeom>
          <a:solidFill>
            <a:schemeClr val="accent3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/>
              <a:t>Postgres</a:t>
            </a:r>
            <a:endParaRPr lang="en-US" sz="2400" noProof="0" dirty="0"/>
          </a:p>
        </p:txBody>
      </p:sp>
      <p:sp>
        <p:nvSpPr>
          <p:cNvPr id="21" name="Rechteck: abgerundete Ecken 20">
            <a:extLst>
              <a:ext uri="{FF2B5EF4-FFF2-40B4-BE49-F238E27FC236}">
                <a16:creationId xmlns:a16="http://schemas.microsoft.com/office/drawing/2014/main" id="{EDCDC133-9D4B-F66B-4BB5-863038DC4581}"/>
              </a:ext>
            </a:extLst>
          </p:cNvPr>
          <p:cNvSpPr/>
          <p:nvPr/>
        </p:nvSpPr>
        <p:spPr>
          <a:xfrm>
            <a:off x="2432282" y="4526176"/>
            <a:ext cx="1653397" cy="937404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/>
              <a:t>MongoDB</a:t>
            </a:r>
            <a:endParaRPr lang="en-US" sz="2400" noProof="0" dirty="0"/>
          </a:p>
        </p:txBody>
      </p:sp>
      <p:sp>
        <p:nvSpPr>
          <p:cNvPr id="22" name="Rechteck: abgerundete Ecken 21">
            <a:extLst>
              <a:ext uri="{FF2B5EF4-FFF2-40B4-BE49-F238E27FC236}">
                <a16:creationId xmlns:a16="http://schemas.microsoft.com/office/drawing/2014/main" id="{1C860CFA-8BC2-72A8-2801-7E7C90A09FC3}"/>
              </a:ext>
            </a:extLst>
          </p:cNvPr>
          <p:cNvSpPr/>
          <p:nvPr/>
        </p:nvSpPr>
        <p:spPr>
          <a:xfrm>
            <a:off x="8210180" y="3332406"/>
            <a:ext cx="1653397" cy="937404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 err="1"/>
              <a:t>KeyVault</a:t>
            </a:r>
            <a:endParaRPr lang="en-US" sz="2400" noProof="0" dirty="0"/>
          </a:p>
        </p:txBody>
      </p: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CA2323B4-CE4E-42BA-0002-8DF0A5948BEC}"/>
              </a:ext>
            </a:extLst>
          </p:cNvPr>
          <p:cNvCxnSpPr>
            <a:stCxn id="9" idx="1"/>
            <a:endCxn id="20" idx="3"/>
          </p:cNvCxnSpPr>
          <p:nvPr/>
        </p:nvCxnSpPr>
        <p:spPr>
          <a:xfrm flipH="1">
            <a:off x="4085679" y="1974554"/>
            <a:ext cx="1185777" cy="583900"/>
          </a:xfrm>
          <a:prstGeom prst="straightConnector1">
            <a:avLst/>
          </a:prstGeom>
          <a:ln w="38100">
            <a:solidFill>
              <a:schemeClr val="accent3">
                <a:lumMod val="9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B538035B-487C-E02C-1CD6-AFF7DC6A62CD}"/>
              </a:ext>
            </a:extLst>
          </p:cNvPr>
          <p:cNvCxnSpPr>
            <a:cxnSpLocks/>
            <a:stCxn id="3" idx="1"/>
            <a:endCxn id="20" idx="3"/>
          </p:cNvCxnSpPr>
          <p:nvPr/>
        </p:nvCxnSpPr>
        <p:spPr>
          <a:xfrm flipH="1" flipV="1">
            <a:off x="4085679" y="2558454"/>
            <a:ext cx="1169241" cy="640124"/>
          </a:xfrm>
          <a:prstGeom prst="straightConnector1">
            <a:avLst/>
          </a:prstGeom>
          <a:ln w="38100">
            <a:solidFill>
              <a:schemeClr val="accent3">
                <a:lumMod val="9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67A91F85-D712-5862-8016-100755C94CB1}"/>
              </a:ext>
            </a:extLst>
          </p:cNvPr>
          <p:cNvCxnSpPr>
            <a:cxnSpLocks/>
            <a:stCxn id="3" idx="1"/>
            <a:endCxn id="8" idx="3"/>
          </p:cNvCxnSpPr>
          <p:nvPr/>
        </p:nvCxnSpPr>
        <p:spPr>
          <a:xfrm flipH="1">
            <a:off x="4085679" y="3198578"/>
            <a:ext cx="1169241" cy="578088"/>
          </a:xfrm>
          <a:prstGeom prst="straightConnector1">
            <a:avLst/>
          </a:prstGeom>
          <a:ln w="381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AE25FE9B-D9AC-2150-65E0-C67A776C74E0}"/>
              </a:ext>
            </a:extLst>
          </p:cNvPr>
          <p:cNvCxnSpPr>
            <a:cxnSpLocks/>
            <a:stCxn id="6" idx="1"/>
            <a:endCxn id="8" idx="3"/>
          </p:cNvCxnSpPr>
          <p:nvPr/>
        </p:nvCxnSpPr>
        <p:spPr>
          <a:xfrm flipH="1" flipV="1">
            <a:off x="4085679" y="3776666"/>
            <a:ext cx="1169241" cy="675409"/>
          </a:xfrm>
          <a:prstGeom prst="straightConnector1">
            <a:avLst/>
          </a:prstGeom>
          <a:ln w="381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mit Pfeil 43">
            <a:extLst>
              <a:ext uri="{FF2B5EF4-FFF2-40B4-BE49-F238E27FC236}">
                <a16:creationId xmlns:a16="http://schemas.microsoft.com/office/drawing/2014/main" id="{6EF51FF8-D870-16FF-6466-4031C77C90BF}"/>
              </a:ext>
            </a:extLst>
          </p:cNvPr>
          <p:cNvCxnSpPr>
            <a:cxnSpLocks/>
            <a:stCxn id="6" idx="1"/>
            <a:endCxn id="21" idx="3"/>
          </p:cNvCxnSpPr>
          <p:nvPr/>
        </p:nvCxnSpPr>
        <p:spPr>
          <a:xfrm flipH="1">
            <a:off x="4085679" y="4452075"/>
            <a:ext cx="1169241" cy="542803"/>
          </a:xfrm>
          <a:prstGeom prst="straightConnector1">
            <a:avLst/>
          </a:prstGeom>
          <a:ln w="3810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mit Pfeil 46">
            <a:extLst>
              <a:ext uri="{FF2B5EF4-FFF2-40B4-BE49-F238E27FC236}">
                <a16:creationId xmlns:a16="http://schemas.microsoft.com/office/drawing/2014/main" id="{82122B33-6405-7855-2516-BE4D5E0AF0E3}"/>
              </a:ext>
            </a:extLst>
          </p:cNvPr>
          <p:cNvCxnSpPr>
            <a:cxnSpLocks/>
            <a:stCxn id="7" idx="1"/>
            <a:endCxn id="21" idx="3"/>
          </p:cNvCxnSpPr>
          <p:nvPr/>
        </p:nvCxnSpPr>
        <p:spPr>
          <a:xfrm flipH="1" flipV="1">
            <a:off x="4085679" y="4994878"/>
            <a:ext cx="1169241" cy="776916"/>
          </a:xfrm>
          <a:prstGeom prst="straightConnector1">
            <a:avLst/>
          </a:prstGeom>
          <a:ln w="3810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mit Pfeil 49">
            <a:extLst>
              <a:ext uri="{FF2B5EF4-FFF2-40B4-BE49-F238E27FC236}">
                <a16:creationId xmlns:a16="http://schemas.microsoft.com/office/drawing/2014/main" id="{89E0571B-DAD4-98C2-C644-59D05A2ED728}"/>
              </a:ext>
            </a:extLst>
          </p:cNvPr>
          <p:cNvCxnSpPr>
            <a:cxnSpLocks/>
            <a:stCxn id="22" idx="1"/>
            <a:endCxn id="9" idx="3"/>
          </p:cNvCxnSpPr>
          <p:nvPr/>
        </p:nvCxnSpPr>
        <p:spPr>
          <a:xfrm flipH="1" flipV="1">
            <a:off x="6924853" y="1974554"/>
            <a:ext cx="1285327" cy="1826554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Gerade Verbindung mit Pfeil 55">
            <a:extLst>
              <a:ext uri="{FF2B5EF4-FFF2-40B4-BE49-F238E27FC236}">
                <a16:creationId xmlns:a16="http://schemas.microsoft.com/office/drawing/2014/main" id="{BEF07A99-83EE-8ABC-227F-1A3F24B0D644}"/>
              </a:ext>
            </a:extLst>
          </p:cNvPr>
          <p:cNvCxnSpPr>
            <a:cxnSpLocks/>
            <a:stCxn id="22" idx="1"/>
            <a:endCxn id="3" idx="3"/>
          </p:cNvCxnSpPr>
          <p:nvPr/>
        </p:nvCxnSpPr>
        <p:spPr>
          <a:xfrm flipH="1" flipV="1">
            <a:off x="6908317" y="3198578"/>
            <a:ext cx="1301863" cy="60253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Gerade Verbindung mit Pfeil 58">
            <a:extLst>
              <a:ext uri="{FF2B5EF4-FFF2-40B4-BE49-F238E27FC236}">
                <a16:creationId xmlns:a16="http://schemas.microsoft.com/office/drawing/2014/main" id="{04CDD93C-7D28-ABC2-35B9-AAEBC14E0312}"/>
              </a:ext>
            </a:extLst>
          </p:cNvPr>
          <p:cNvCxnSpPr>
            <a:cxnSpLocks/>
            <a:stCxn id="22" idx="1"/>
            <a:endCxn id="6" idx="3"/>
          </p:cNvCxnSpPr>
          <p:nvPr/>
        </p:nvCxnSpPr>
        <p:spPr>
          <a:xfrm flipH="1">
            <a:off x="6908317" y="3801108"/>
            <a:ext cx="1301863" cy="650967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Gerade Verbindung mit Pfeil 61">
            <a:extLst>
              <a:ext uri="{FF2B5EF4-FFF2-40B4-BE49-F238E27FC236}">
                <a16:creationId xmlns:a16="http://schemas.microsoft.com/office/drawing/2014/main" id="{4A585540-1991-0B2D-51AD-727A9820B14E}"/>
              </a:ext>
            </a:extLst>
          </p:cNvPr>
          <p:cNvCxnSpPr>
            <a:cxnSpLocks/>
            <a:stCxn id="22" idx="1"/>
            <a:endCxn id="7" idx="3"/>
          </p:cNvCxnSpPr>
          <p:nvPr/>
        </p:nvCxnSpPr>
        <p:spPr>
          <a:xfrm flipH="1">
            <a:off x="6908317" y="3801108"/>
            <a:ext cx="1301863" cy="1970686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20836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0" grpId="0" animBg="1"/>
      <p:bldP spid="21" grpId="0" animBg="1"/>
      <p:bldP spid="2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98ECF3-5BCF-E2BD-E776-A6A16F9653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95348"/>
            <a:ext cx="9144000" cy="1069848"/>
          </a:xfrm>
        </p:spPr>
        <p:txBody>
          <a:bodyPr/>
          <a:lstStyle/>
          <a:p>
            <a:r>
              <a:rPr lang="en-US" noProof="0" dirty="0"/>
              <a:t>Todays </a:t>
            </a:r>
            <a:r>
              <a:rPr lang="en-US" noProof="0" dirty="0" err="1"/>
              <a:t>Github</a:t>
            </a:r>
            <a:r>
              <a:rPr lang="en-US" noProof="0" dirty="0"/>
              <a:t> Repository</a:t>
            </a:r>
          </a:p>
        </p:txBody>
      </p:sp>
      <p:pic>
        <p:nvPicPr>
          <p:cNvPr id="9" name="Grafik 8" descr="The image is a QR code designed for easy scanning to link to a specific online content.&#10;&#10;KI-generierte Inhalte können fehlerhaft sein.">
            <a:extLst>
              <a:ext uri="{FF2B5EF4-FFF2-40B4-BE49-F238E27FC236}">
                <a16:creationId xmlns:a16="http://schemas.microsoft.com/office/drawing/2014/main" id="{D65EF074-E9FD-D6A1-488D-3C38B87129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4709" y="2725713"/>
            <a:ext cx="3031374" cy="3856917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D0F8AA9-2207-2D4C-C2E0-FEF14E2D9ACF}"/>
              </a:ext>
            </a:extLst>
          </p:cNvPr>
          <p:cNvCxnSpPr>
            <a:cxnSpLocks/>
          </p:cNvCxnSpPr>
          <p:nvPr/>
        </p:nvCxnSpPr>
        <p:spPr>
          <a:xfrm rot="5400000">
            <a:off x="6095999" y="1560053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feld 9">
            <a:extLst>
              <a:ext uri="{FF2B5EF4-FFF2-40B4-BE49-F238E27FC236}">
                <a16:creationId xmlns:a16="http://schemas.microsoft.com/office/drawing/2014/main" id="{B2A01C11-D82D-2AA7-9070-F3FF1ADAF5AB}"/>
              </a:ext>
            </a:extLst>
          </p:cNvPr>
          <p:cNvSpPr txBox="1"/>
          <p:nvPr/>
        </p:nvSpPr>
        <p:spPr>
          <a:xfrm>
            <a:off x="5508128" y="3638509"/>
            <a:ext cx="11757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noProof="0" dirty="0">
                <a:solidFill>
                  <a:schemeClr val="bg1"/>
                </a:solidFill>
                <a:cs typeface="Segoe UI" panose="020B0502040204020203" pitchFamily="34" charset="0"/>
              </a:rPr>
              <a:t>Or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0A8BF6C8-C907-2FC2-9F6B-FA1922FBB39B}"/>
              </a:ext>
            </a:extLst>
          </p:cNvPr>
          <p:cNvSpPr txBox="1"/>
          <p:nvPr/>
        </p:nvSpPr>
        <p:spPr>
          <a:xfrm>
            <a:off x="6838700" y="3607732"/>
            <a:ext cx="499940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cs typeface="Segoe UI" panose="020B0502040204020203" pitchFamily="34" charset="0"/>
              </a:rPr>
              <a:t>https://github.com/melanie-bauer/azure-llm-chat-demo</a:t>
            </a:r>
            <a:endParaRPr lang="en-US" sz="3200" b="1" noProof="0" dirty="0">
              <a:solidFill>
                <a:schemeClr val="bg1"/>
              </a:solidFill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16542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E1892-81E6-551C-7B5A-DEA682245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spc="600" noProof="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  <a:t>THANK YOU</a:t>
            </a:r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19D01-29BE-BE76-41C5-9D58AD8119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noProof="0" dirty="0">
                <a:latin typeface="Segoe UI Light" panose="020B0502040204020203" pitchFamily="34" charset="0"/>
                <a:cs typeface="Segoe UI Light" panose="020B0502040204020203" pitchFamily="34" charset="0"/>
              </a:rPr>
              <a:t>Melanie Bauer (software architects)</a:t>
            </a:r>
          </a:p>
          <a:p>
            <a:pPr algn="l"/>
            <a:endParaRPr lang="en-US" noProof="0" dirty="0">
              <a:latin typeface="Segoe UI Light" panose="020B0502040204020203" pitchFamily="34" charset="0"/>
              <a:ea typeface="Calibri" panose="020F0502020204030204"/>
              <a:cs typeface="Segoe UI Light" panose="020B0502040204020203" pitchFamily="34" charset="0"/>
            </a:endParaRPr>
          </a:p>
          <a:p>
            <a:endParaRPr lang="en-US" noProof="0" dirty="0"/>
          </a:p>
        </p:txBody>
      </p:sp>
      <p:pic>
        <p:nvPicPr>
          <p:cNvPr id="5" name="Grafik 4" descr="The image is a QR code, a two-dimensional barcode that can be scanned to provide information or direct to a web link.&#10;&#10;KI-generierte Inhalte können fehlerhaft sein.">
            <a:extLst>
              <a:ext uri="{FF2B5EF4-FFF2-40B4-BE49-F238E27FC236}">
                <a16:creationId xmlns:a16="http://schemas.microsoft.com/office/drawing/2014/main" id="{61D78787-562F-94C1-1E06-D2936B4FFF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748" y="1454451"/>
            <a:ext cx="2842925" cy="2842925"/>
          </a:xfrm>
          <a:prstGeom prst="rect">
            <a:avLst/>
          </a:prstGeom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2ABAA87-90D0-07B4-8B06-6D622A2DB903}"/>
              </a:ext>
            </a:extLst>
          </p:cNvPr>
          <p:cNvSpPr txBox="1">
            <a:spLocks/>
          </p:cNvSpPr>
          <p:nvPr/>
        </p:nvSpPr>
        <p:spPr>
          <a:xfrm>
            <a:off x="909649" y="4382498"/>
            <a:ext cx="2079026" cy="5761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noProof="0" dirty="0">
                <a:latin typeface="Segoe UI Light" panose="020B0502040204020203" pitchFamily="34" charset="0"/>
                <a:cs typeface="Segoe UI Light" panose="020B0502040204020203" pitchFamily="34" charset="0"/>
              </a:rPr>
              <a:t>My LinkedIn</a:t>
            </a:r>
          </a:p>
          <a:p>
            <a:endParaRPr lang="en-US" noProof="0" dirty="0">
              <a:latin typeface="Segoe UI Light" panose="020B0502040204020203" pitchFamily="34" charset="0"/>
              <a:ea typeface="Calibri" panose="020F0502020204030204"/>
              <a:cs typeface="Segoe UI Light" panose="020B0502040204020203" pitchFamily="34" charset="0"/>
            </a:endParaRPr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777012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43">
      <a:dk1>
        <a:srgbClr val="000000"/>
      </a:dk1>
      <a:lt1>
        <a:srgbClr val="FFFFFF"/>
      </a:lt1>
      <a:dk2>
        <a:srgbClr val="64DFED"/>
      </a:dk2>
      <a:lt2>
        <a:srgbClr val="E7E6E6"/>
      </a:lt2>
      <a:accent1>
        <a:srgbClr val="92CDF0"/>
      </a:accent1>
      <a:accent2>
        <a:srgbClr val="92CDF0"/>
      </a:accent2>
      <a:accent3>
        <a:srgbClr val="ABC3F0"/>
      </a:accent3>
      <a:accent4>
        <a:srgbClr val="C3B9F2"/>
      </a:accent4>
      <a:accent5>
        <a:srgbClr val="AAA5F9"/>
      </a:accent5>
      <a:accent6>
        <a:srgbClr val="F6A6F4"/>
      </a:accent6>
      <a:hlink>
        <a:srgbClr val="0563C1"/>
      </a:hlink>
      <a:folHlink>
        <a:srgbClr val="954F72"/>
      </a:folHlink>
    </a:clrScheme>
    <a:fontScheme name="Custom 39">
      <a:majorFont>
        <a:latin typeface="Tw Cen MT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5" ma:contentTypeDescription="Create a new document." ma:contentTypeScope="" ma:versionID="e02306daf00165b375dc6a58966960b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df88fb76bf5f555224557953949c1ec9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2CF8670-35D1-4455-AC7A-762B7388BE2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A4A3FD6-E6BF-490E-B6B4-6A011394B0EB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43C4A95C-9007-4EA6-944B-306B6F2A0100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TM66925244</Template>
  <TotalTime>0</TotalTime>
  <Words>2573</Words>
  <Application>Microsoft Office PowerPoint</Application>
  <PresentationFormat>Breitbild</PresentationFormat>
  <Paragraphs>288</Paragraphs>
  <Slides>18</Slides>
  <Notes>18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18</vt:i4>
      </vt:variant>
    </vt:vector>
  </HeadingPairs>
  <TitlesOfParts>
    <vt:vector size="26" baseType="lpstr">
      <vt:lpstr>Arial</vt:lpstr>
      <vt:lpstr>Calibri</vt:lpstr>
      <vt:lpstr>Courier New</vt:lpstr>
      <vt:lpstr>Segoe UI</vt:lpstr>
      <vt:lpstr>Segoe UI Light</vt:lpstr>
      <vt:lpstr>Tw Cen MT</vt:lpstr>
      <vt:lpstr>Wingdings</vt:lpstr>
      <vt:lpstr>Office Theme</vt:lpstr>
      <vt:lpstr>Running Open WebUI or LibreChat with LiteLLM Proxy in Azure</vt:lpstr>
      <vt:lpstr>About me</vt:lpstr>
      <vt:lpstr>Why This Topic matters</vt:lpstr>
      <vt:lpstr>Why This Topic matters</vt:lpstr>
      <vt:lpstr>Quality Criteria:  What to watch out for</vt:lpstr>
      <vt:lpstr>Let me introduce you to…</vt:lpstr>
      <vt:lpstr>Litellm</vt:lpstr>
      <vt:lpstr>Litellm</vt:lpstr>
      <vt:lpstr>Open webui</vt:lpstr>
      <vt:lpstr>Open webui</vt:lpstr>
      <vt:lpstr>Librechat</vt:lpstr>
      <vt:lpstr>Librechat</vt:lpstr>
      <vt:lpstr>Open WebUI vs. Librechat</vt:lpstr>
      <vt:lpstr>Architecture for this Demo</vt:lpstr>
      <vt:lpstr>Architecture for this Demo</vt:lpstr>
      <vt:lpstr>Architecture for this Demo</vt:lpstr>
      <vt:lpstr>Todays Github Repository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Melanie Bauer</dc:creator>
  <cp:lastModifiedBy>Bauer Melanie</cp:lastModifiedBy>
  <cp:revision>7</cp:revision>
  <dcterms:created xsi:type="dcterms:W3CDTF">2026-05-11T11:11:22Z</dcterms:created>
  <dcterms:modified xsi:type="dcterms:W3CDTF">2026-05-12T21:53:53Z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